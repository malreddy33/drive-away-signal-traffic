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6" r:id="rId10"/>
    <p:sldId id="272" r:id="rId11"/>
    <p:sldId id="273" r:id="rId12"/>
    <p:sldId id="274" r:id="rId13"/>
    <p:sldId id="275" r:id="rId14"/>
    <p:sldId id="276" r:id="rId15"/>
    <p:sldId id="267" r:id="rId16"/>
    <p:sldId id="268" r:id="rId17"/>
    <p:sldId id="269" r:id="rId18"/>
    <p:sldId id="270" r:id="rId19"/>
    <p:sldId id="271" r:id="rId20"/>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1" d="100"/>
          <a:sy n="81" d="100"/>
        </p:scale>
        <p:origin x="725"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2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81D60167-4931-47E6-BA6A-407CBD079E47}" type="slidenum">
              <a:rPr spc="-25" dirty="0"/>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81D60167-4931-47E6-BA6A-407CBD079E47}" type="slidenum">
              <a:rPr spc="-25" dirty="0"/>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81D60167-4931-47E6-BA6A-407CBD079E47}" type="slidenum">
              <a:rPr spc="-25" dirty="0"/>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81D60167-4931-47E6-BA6A-407CBD079E47}" type="slidenum">
              <a:rPr spc="-25" dirty="0"/>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panose="020F0502020204030204"/>
                <a:cs typeface="Calibri" panose="020F0502020204030204"/>
              </a:defRPr>
            </a:lvl1pPr>
          </a:lstStyle>
          <a:p>
            <a:pPr marL="12700">
              <a:lnSpc>
                <a:spcPts val="1240"/>
              </a:lnSpc>
            </a:pPr>
            <a:fld id="{81D60167-4931-47E6-BA6A-407CBD079E47}" type="slidenum">
              <a:rPr spc="-25" dirty="0"/>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98857" y="268386"/>
            <a:ext cx="7394285" cy="903605"/>
          </a:xfrm>
          <a:prstGeom prst="rect">
            <a:avLst/>
          </a:prstGeom>
        </p:spPr>
        <p:txBody>
          <a:bodyPr wrap="square" lIns="0" tIns="0" rIns="0" bIns="0">
            <a:spAutoFit/>
          </a:bodyPr>
          <a:lstStyle>
            <a:lvl1pPr>
              <a:defRPr sz="3200" b="1" i="0">
                <a:solidFill>
                  <a:schemeClr val="tx1"/>
                </a:solidFill>
                <a:latin typeface="Times New Roman" panose="02020603050405020304"/>
                <a:cs typeface="Times New Roman" panose="02020603050405020304"/>
              </a:defRPr>
            </a:lvl1pPr>
          </a:lstStyle>
          <a:p/>
        </p:txBody>
      </p:sp>
      <p:sp>
        <p:nvSpPr>
          <p:cNvPr id="3" name="Holder 3"/>
          <p:cNvSpPr>
            <a:spLocks noGrp="1"/>
          </p:cNvSpPr>
          <p:nvPr>
            <p:ph type="body" idx="1"/>
          </p:nvPr>
        </p:nvSpPr>
        <p:spPr>
          <a:xfrm>
            <a:off x="1099179" y="1561353"/>
            <a:ext cx="9953625" cy="3249295"/>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329491" y="6466777"/>
            <a:ext cx="217804" cy="177800"/>
          </a:xfrm>
          <a:prstGeom prst="rect">
            <a:avLst/>
          </a:prstGeom>
        </p:spPr>
        <p:txBody>
          <a:bodyPr wrap="square" lIns="0" tIns="0" rIns="0" bIns="0">
            <a:spAutoFit/>
          </a:bodyPr>
          <a:lstStyle>
            <a:lvl1pPr>
              <a:defRPr sz="1200" b="0" i="0">
                <a:solidFill>
                  <a:srgbClr val="888888"/>
                </a:solidFill>
                <a:latin typeface="Calibri" panose="020F0502020204030204"/>
                <a:cs typeface="Calibri" panose="020F0502020204030204"/>
              </a:defRPr>
            </a:lvl1pPr>
          </a:lstStyle>
          <a:p>
            <a:pPr marL="12700">
              <a:lnSpc>
                <a:spcPts val="1240"/>
              </a:lnSpc>
            </a:pPr>
            <a:fld id="{81D60167-4931-47E6-BA6A-407CBD079E47}" type="slidenum">
              <a:rPr spc="-25" dirty="0"/>
            </a:fld>
            <a:endParaRPr spc="-25"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jpe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jpe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jpe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29400" y="4850751"/>
            <a:ext cx="4267200" cy="1910779"/>
          </a:xfrm>
          <a:prstGeom prst="rect">
            <a:avLst/>
          </a:prstGeom>
        </p:spPr>
        <p:txBody>
          <a:bodyPr vert="horz" wrap="square" lIns="0" tIns="12700" rIns="0" bIns="0" rtlCol="0">
            <a:spAutoFit/>
          </a:bodyPr>
          <a:lstStyle/>
          <a:p>
            <a:pPr marL="12700">
              <a:lnSpc>
                <a:spcPct val="100000"/>
              </a:lnSpc>
              <a:spcBef>
                <a:spcPts val="100"/>
              </a:spcBef>
            </a:pPr>
            <a:r>
              <a:rPr lang="en-IN" sz="2400" spc="-25" dirty="0" err="1">
                <a:solidFill>
                  <a:srgbClr val="0C0C0C"/>
                </a:solidFill>
                <a:latin typeface="Times New Roman" panose="02020603050405020304"/>
                <a:cs typeface="Times New Roman" panose="02020603050405020304"/>
              </a:rPr>
              <a:t>E.Shashank</a:t>
            </a:r>
            <a:r>
              <a:rPr lang="en-IN" sz="2400" spc="-25" dirty="0">
                <a:solidFill>
                  <a:srgbClr val="0C0C0C"/>
                </a:solidFill>
                <a:latin typeface="Times New Roman" panose="02020603050405020304"/>
                <a:cs typeface="Times New Roman" panose="02020603050405020304"/>
              </a:rPr>
              <a:t> Narayana (192312507)</a:t>
            </a:r>
            <a:endParaRPr lang="en-IN" sz="2400" spc="-25" dirty="0">
              <a:solidFill>
                <a:srgbClr val="0C0C0C"/>
              </a:solidFill>
              <a:latin typeface="Times New Roman" panose="02020603050405020304"/>
              <a:cs typeface="Times New Roman" panose="02020603050405020304"/>
            </a:endParaRPr>
          </a:p>
          <a:p>
            <a:pPr marL="12700">
              <a:lnSpc>
                <a:spcPct val="100000"/>
              </a:lnSpc>
              <a:spcBef>
                <a:spcPts val="100"/>
              </a:spcBef>
            </a:pPr>
            <a:r>
              <a:rPr lang="en-IN" sz="2400" spc="-25" dirty="0" err="1">
                <a:solidFill>
                  <a:srgbClr val="0C0C0C"/>
                </a:solidFill>
                <a:latin typeface="Times New Roman" panose="02020603050405020304"/>
                <a:cs typeface="Times New Roman" panose="02020603050405020304"/>
              </a:rPr>
              <a:t>M.Yugandhar</a:t>
            </a:r>
            <a:r>
              <a:rPr lang="en-IN" sz="2400" spc="-25" dirty="0">
                <a:solidFill>
                  <a:srgbClr val="0C0C0C"/>
                </a:solidFill>
                <a:latin typeface="Times New Roman" panose="02020603050405020304"/>
                <a:cs typeface="Times New Roman" panose="02020603050405020304"/>
              </a:rPr>
              <a:t> (192372016)</a:t>
            </a:r>
            <a:endParaRPr lang="en-IN" sz="2400" spc="-25" dirty="0">
              <a:solidFill>
                <a:srgbClr val="0C0C0C"/>
              </a:solidFill>
              <a:latin typeface="Times New Roman" panose="02020603050405020304"/>
              <a:cs typeface="Times New Roman" panose="02020603050405020304"/>
            </a:endParaRPr>
          </a:p>
          <a:p>
            <a:pPr marL="12700">
              <a:lnSpc>
                <a:spcPct val="100000"/>
              </a:lnSpc>
              <a:spcBef>
                <a:spcPts val="100"/>
              </a:spcBef>
            </a:pPr>
            <a:r>
              <a:rPr lang="en-IN" sz="2400" spc="-25" dirty="0" err="1">
                <a:solidFill>
                  <a:srgbClr val="0C0C0C"/>
                </a:solidFill>
                <a:latin typeface="Times New Roman" panose="02020603050405020304"/>
                <a:cs typeface="Times New Roman" panose="02020603050405020304"/>
              </a:rPr>
              <a:t>P.MalReddy</a:t>
            </a:r>
            <a:r>
              <a:rPr lang="en-IN" sz="2400" spc="-25" dirty="0">
                <a:solidFill>
                  <a:srgbClr val="0C0C0C"/>
                </a:solidFill>
                <a:latin typeface="Times New Roman" panose="02020603050405020304"/>
                <a:cs typeface="Times New Roman" panose="02020603050405020304"/>
              </a:rPr>
              <a:t> (192372015)</a:t>
            </a:r>
            <a:endParaRPr lang="en-IN" sz="2400" spc="-25" dirty="0">
              <a:solidFill>
                <a:srgbClr val="0C0C0C"/>
              </a:solidFill>
              <a:latin typeface="Times New Roman" panose="02020603050405020304"/>
              <a:cs typeface="Times New Roman" panose="02020603050405020304"/>
            </a:endParaRPr>
          </a:p>
          <a:p>
            <a:pPr marL="12700">
              <a:lnSpc>
                <a:spcPct val="100000"/>
              </a:lnSpc>
              <a:spcBef>
                <a:spcPts val="100"/>
              </a:spcBef>
            </a:pPr>
            <a:r>
              <a:rPr lang="en-IN" sz="2400" spc="-25" dirty="0" err="1">
                <a:solidFill>
                  <a:srgbClr val="0C0C0C"/>
                </a:solidFill>
                <a:latin typeface="Times New Roman" panose="02020603050405020304"/>
                <a:cs typeface="Times New Roman" panose="02020603050405020304"/>
              </a:rPr>
              <a:t>Athish.E</a:t>
            </a:r>
            <a:r>
              <a:rPr lang="en-IN" sz="2400" spc="-25" dirty="0">
                <a:solidFill>
                  <a:srgbClr val="0C0C0C"/>
                </a:solidFill>
                <a:latin typeface="Times New Roman" panose="02020603050405020304"/>
                <a:cs typeface="Times New Roman" panose="02020603050405020304"/>
              </a:rPr>
              <a:t>(192371015)</a:t>
            </a:r>
            <a:endParaRPr lang="en-IN" sz="2400" spc="-25" dirty="0">
              <a:solidFill>
                <a:srgbClr val="0C0C0C"/>
              </a:solidFill>
              <a:latin typeface="Times New Roman" panose="02020603050405020304"/>
              <a:cs typeface="Times New Roman" panose="02020603050405020304"/>
            </a:endParaRPr>
          </a:p>
          <a:p>
            <a:pPr marL="12700">
              <a:lnSpc>
                <a:spcPct val="100000"/>
              </a:lnSpc>
              <a:spcBef>
                <a:spcPts val="100"/>
              </a:spcBef>
            </a:pPr>
            <a:r>
              <a:rPr lang="en-IN" sz="2400" spc="-25" dirty="0" err="1">
                <a:solidFill>
                  <a:srgbClr val="0C0C0C"/>
                </a:solidFill>
                <a:latin typeface="Times New Roman" panose="02020603050405020304"/>
                <a:cs typeface="Times New Roman" panose="02020603050405020304"/>
              </a:rPr>
              <a:t>P.Sravani</a:t>
            </a:r>
            <a:r>
              <a:rPr lang="en-IN" sz="2400" spc="-25" dirty="0">
                <a:solidFill>
                  <a:srgbClr val="0C0C0C"/>
                </a:solidFill>
                <a:latin typeface="Times New Roman" panose="02020603050405020304"/>
                <a:cs typeface="Times New Roman" panose="02020603050405020304"/>
              </a:rPr>
              <a:t> (192311135)</a:t>
            </a:r>
            <a:endParaRPr sz="2400" dirty="0">
              <a:latin typeface="Times New Roman" panose="02020603050405020304"/>
              <a:cs typeface="Times New Roman" panose="02020603050405020304"/>
            </a:endParaRPr>
          </a:p>
        </p:txBody>
      </p:sp>
      <p:pic>
        <p:nvPicPr>
          <p:cNvPr id="3" name="object 3"/>
          <p:cNvPicPr/>
          <p:nvPr/>
        </p:nvPicPr>
        <p:blipFill>
          <a:blip r:embed="rId1" cstate="print"/>
          <a:stretch>
            <a:fillRect/>
          </a:stretch>
        </p:blipFill>
        <p:spPr>
          <a:xfrm>
            <a:off x="1024331" y="475651"/>
            <a:ext cx="1135116" cy="1342883"/>
          </a:xfrm>
          <a:prstGeom prst="rect">
            <a:avLst/>
          </a:prstGeom>
        </p:spPr>
      </p:pic>
      <p:pic>
        <p:nvPicPr>
          <p:cNvPr id="4" name="object 4"/>
          <p:cNvPicPr/>
          <p:nvPr/>
        </p:nvPicPr>
        <p:blipFill>
          <a:blip r:embed="rId2" cstate="print"/>
          <a:stretch>
            <a:fillRect/>
          </a:stretch>
        </p:blipFill>
        <p:spPr>
          <a:xfrm>
            <a:off x="9647555" y="328508"/>
            <a:ext cx="1520113" cy="1342883"/>
          </a:xfrm>
          <a:prstGeom prst="rect">
            <a:avLst/>
          </a:prstGeom>
        </p:spPr>
      </p:pic>
      <p:sp>
        <p:nvSpPr>
          <p:cNvPr id="5" name="object 5"/>
          <p:cNvSpPr txBox="1"/>
          <p:nvPr/>
        </p:nvSpPr>
        <p:spPr>
          <a:xfrm>
            <a:off x="1149237" y="4735045"/>
            <a:ext cx="2997835" cy="1154430"/>
          </a:xfrm>
          <a:prstGeom prst="rect">
            <a:avLst/>
          </a:prstGeom>
        </p:spPr>
        <p:txBody>
          <a:bodyPr vert="horz" wrap="square" lIns="0" tIns="12700" rIns="0" bIns="0" rtlCol="0">
            <a:spAutoFit/>
          </a:bodyPr>
          <a:lstStyle/>
          <a:p>
            <a:pPr marL="12700">
              <a:lnSpc>
                <a:spcPct val="100000"/>
              </a:lnSpc>
              <a:spcBef>
                <a:spcPts val="100"/>
              </a:spcBef>
            </a:pPr>
            <a:r>
              <a:rPr sz="2600" b="1" dirty="0">
                <a:latin typeface="Times New Roman" panose="02020603050405020304"/>
                <a:cs typeface="Times New Roman" panose="02020603050405020304"/>
              </a:rPr>
              <a:t>Guided</a:t>
            </a:r>
            <a:r>
              <a:rPr sz="2600" b="1" spc="-114" dirty="0">
                <a:latin typeface="Times New Roman" panose="02020603050405020304"/>
                <a:cs typeface="Times New Roman" panose="02020603050405020304"/>
              </a:rPr>
              <a:t> </a:t>
            </a:r>
            <a:r>
              <a:rPr sz="2600" b="1" spc="-25" dirty="0">
                <a:latin typeface="Times New Roman" panose="02020603050405020304"/>
                <a:cs typeface="Times New Roman" panose="02020603050405020304"/>
              </a:rPr>
              <a:t>By</a:t>
            </a:r>
            <a:endParaRPr sz="2600">
              <a:latin typeface="Times New Roman" panose="02020603050405020304"/>
              <a:cs typeface="Times New Roman" panose="02020603050405020304"/>
            </a:endParaRPr>
          </a:p>
          <a:p>
            <a:pPr marL="12700" marR="5080">
              <a:lnSpc>
                <a:spcPct val="100000"/>
              </a:lnSpc>
              <a:spcBef>
                <a:spcPts val="5"/>
              </a:spcBef>
            </a:pPr>
            <a:r>
              <a:rPr sz="2400" spc="-35" dirty="0">
                <a:latin typeface="Times New Roman" panose="02020603050405020304"/>
                <a:cs typeface="Times New Roman" panose="02020603050405020304"/>
              </a:rPr>
              <a:t>Dr.</a:t>
            </a:r>
            <a:r>
              <a:rPr sz="2400" spc="-95"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Valentina</a:t>
            </a:r>
            <a:r>
              <a:rPr sz="2400" spc="-55" dirty="0">
                <a:latin typeface="Times New Roman" panose="02020603050405020304"/>
                <a:cs typeface="Times New Roman" panose="02020603050405020304"/>
              </a:rPr>
              <a:t> </a:t>
            </a:r>
            <a:r>
              <a:rPr sz="2400" dirty="0">
                <a:latin typeface="Times New Roman" panose="02020603050405020304"/>
                <a:cs typeface="Times New Roman" panose="02020603050405020304"/>
              </a:rPr>
              <a:t>Stephen</a:t>
            </a:r>
            <a:r>
              <a:rPr sz="2400" spc="-50" dirty="0">
                <a:latin typeface="Times New Roman" panose="02020603050405020304"/>
                <a:cs typeface="Times New Roman" panose="02020603050405020304"/>
              </a:rPr>
              <a:t> &amp; </a:t>
            </a:r>
            <a:r>
              <a:rPr sz="2400" spc="-10" dirty="0">
                <a:latin typeface="Times New Roman" panose="02020603050405020304"/>
                <a:cs typeface="Times New Roman" panose="02020603050405020304"/>
              </a:rPr>
              <a:t>Dr.</a:t>
            </a:r>
            <a:r>
              <a:rPr sz="2400" spc="-70" dirty="0">
                <a:latin typeface="Times New Roman" panose="02020603050405020304"/>
                <a:cs typeface="Times New Roman" panose="02020603050405020304"/>
              </a:rPr>
              <a:t> </a:t>
            </a:r>
            <a:r>
              <a:rPr sz="2400" dirty="0">
                <a:latin typeface="Times New Roman" panose="02020603050405020304"/>
                <a:cs typeface="Times New Roman" panose="02020603050405020304"/>
              </a:rPr>
              <a:t>R.</a:t>
            </a:r>
            <a:r>
              <a:rPr sz="2400" spc="-6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Sivakumar</a:t>
            </a:r>
            <a:endParaRPr sz="2400">
              <a:latin typeface="Times New Roman" panose="02020603050405020304"/>
              <a:cs typeface="Times New Roman" panose="02020603050405020304"/>
            </a:endParaRPr>
          </a:p>
        </p:txBody>
      </p:sp>
      <p:sp>
        <p:nvSpPr>
          <p:cNvPr id="6" name="object 6"/>
          <p:cNvSpPr txBox="1"/>
          <p:nvPr/>
        </p:nvSpPr>
        <p:spPr>
          <a:xfrm>
            <a:off x="1099179" y="1561353"/>
            <a:ext cx="9953625" cy="3279231"/>
          </a:xfrm>
          <a:prstGeom prst="rect">
            <a:avLst/>
          </a:prstGeom>
        </p:spPr>
        <p:txBody>
          <a:bodyPr vert="horz" wrap="square" lIns="0" tIns="133985" rIns="0" bIns="0" rtlCol="0">
            <a:spAutoFit/>
          </a:bodyPr>
          <a:lstStyle/>
          <a:p>
            <a:pPr marR="374650" algn="ctr">
              <a:lnSpc>
                <a:spcPct val="100000"/>
              </a:lnSpc>
              <a:spcBef>
                <a:spcPts val="1055"/>
              </a:spcBef>
            </a:pPr>
            <a:r>
              <a:rPr sz="2800" dirty="0">
                <a:latin typeface="Times New Roman" panose="02020603050405020304"/>
                <a:cs typeface="Times New Roman" panose="02020603050405020304"/>
              </a:rPr>
              <a:t>Capstone</a:t>
            </a:r>
            <a:r>
              <a:rPr sz="2800" spc="-40" dirty="0">
                <a:latin typeface="Times New Roman" panose="02020603050405020304"/>
                <a:cs typeface="Times New Roman" panose="02020603050405020304"/>
              </a:rPr>
              <a:t> </a:t>
            </a:r>
            <a:r>
              <a:rPr sz="2800" dirty="0">
                <a:latin typeface="Times New Roman" panose="02020603050405020304"/>
                <a:cs typeface="Times New Roman" panose="02020603050405020304"/>
              </a:rPr>
              <a:t>project</a:t>
            </a:r>
            <a:r>
              <a:rPr sz="2800" spc="-35" dirty="0">
                <a:latin typeface="Times New Roman" panose="02020603050405020304"/>
                <a:cs typeface="Times New Roman" panose="02020603050405020304"/>
              </a:rPr>
              <a:t> </a:t>
            </a:r>
            <a:r>
              <a:rPr sz="2800" spc="-10" dirty="0">
                <a:latin typeface="Times New Roman" panose="02020603050405020304"/>
                <a:cs typeface="Times New Roman" panose="02020603050405020304"/>
              </a:rPr>
              <a:t>presentation</a:t>
            </a:r>
            <a:endParaRPr sz="2800" dirty="0">
              <a:latin typeface="Times New Roman" panose="02020603050405020304"/>
              <a:cs typeface="Times New Roman" panose="02020603050405020304"/>
            </a:endParaRPr>
          </a:p>
          <a:p>
            <a:pPr marR="204470" algn="ctr">
              <a:lnSpc>
                <a:spcPct val="100000"/>
              </a:lnSpc>
              <a:spcBef>
                <a:spcPts val="1090"/>
              </a:spcBef>
            </a:pPr>
            <a:r>
              <a:rPr lang="en-US" sz="3200" b="1" dirty="0">
                <a:latin typeface="Times New Roman" panose="02020603050405020304" pitchFamily="18" charset="0"/>
                <a:cs typeface="Times New Roman" panose="02020603050405020304" pitchFamily="18" charset="0"/>
              </a:rPr>
              <a:t>Intelligent Emergency Vehicle Priority System for Driveway Traffic Control</a:t>
            </a:r>
            <a:endParaRPr lang="en-US" sz="3200" b="1" dirty="0">
              <a:latin typeface="Times New Roman" panose="02020603050405020304" pitchFamily="18" charset="0"/>
              <a:cs typeface="Times New Roman" panose="02020603050405020304" pitchFamily="18" charset="0"/>
            </a:endParaRPr>
          </a:p>
          <a:p>
            <a:pPr marR="204470" algn="ctr">
              <a:lnSpc>
                <a:spcPct val="100000"/>
              </a:lnSpc>
              <a:spcBef>
                <a:spcPts val="1090"/>
              </a:spcBef>
            </a:pPr>
            <a:r>
              <a:rPr sz="2400" b="1" i="1" spc="-10" dirty="0">
                <a:latin typeface="Times New Roman" panose="02020603050405020304"/>
                <a:cs typeface="Times New Roman" panose="02020603050405020304"/>
              </a:rPr>
              <a:t>Team</a:t>
            </a:r>
            <a:r>
              <a:rPr sz="2400" b="1" i="1" spc="-135" dirty="0">
                <a:latin typeface="Times New Roman" panose="02020603050405020304"/>
                <a:cs typeface="Times New Roman" panose="02020603050405020304"/>
              </a:rPr>
              <a:t> </a:t>
            </a:r>
            <a:r>
              <a:rPr sz="2400" b="1" i="1" spc="-50" dirty="0">
                <a:latin typeface="Times New Roman" panose="02020603050405020304"/>
                <a:cs typeface="Times New Roman" panose="02020603050405020304"/>
              </a:rPr>
              <a:t>-</a:t>
            </a:r>
            <a:r>
              <a:rPr sz="2400" b="1" i="1" dirty="0">
                <a:latin typeface="Times New Roman" panose="02020603050405020304"/>
                <a:cs typeface="Times New Roman" panose="02020603050405020304"/>
              </a:rPr>
              <a:t>	</a:t>
            </a:r>
            <a:r>
              <a:rPr lang="en-IN" sz="2400" b="1" i="1" spc="-50" dirty="0">
                <a:latin typeface="Times New Roman" panose="02020603050405020304"/>
                <a:cs typeface="Times New Roman" panose="02020603050405020304"/>
              </a:rPr>
              <a:t>3</a:t>
            </a:r>
            <a:endParaRPr sz="2400" dirty="0">
              <a:latin typeface="Times New Roman" panose="02020603050405020304"/>
              <a:cs typeface="Times New Roman" panose="02020603050405020304"/>
            </a:endParaRPr>
          </a:p>
          <a:p>
            <a:pPr marL="12065" marR="5080" algn="ctr">
              <a:lnSpc>
                <a:spcPct val="102000"/>
              </a:lnSpc>
              <a:spcBef>
                <a:spcPts val="5"/>
              </a:spcBef>
            </a:pPr>
            <a:r>
              <a:rPr sz="2300" b="1" dirty="0">
                <a:latin typeface="Times New Roman" panose="02020603050405020304"/>
                <a:cs typeface="Times New Roman" panose="02020603050405020304"/>
              </a:rPr>
              <a:t>EEA0117</a:t>
            </a:r>
            <a:r>
              <a:rPr sz="2300" b="1" spc="40"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a:t>
            </a:r>
            <a:r>
              <a:rPr sz="2300" b="1" spc="45"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Basic</a:t>
            </a:r>
            <a:r>
              <a:rPr sz="2300" b="1" spc="40"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Electrical</a:t>
            </a:r>
            <a:r>
              <a:rPr sz="2300" b="1" spc="35"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and</a:t>
            </a:r>
            <a:r>
              <a:rPr sz="2300" b="1" spc="40"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Electronics</a:t>
            </a:r>
            <a:r>
              <a:rPr sz="2300" b="1" spc="40"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Engineering</a:t>
            </a:r>
            <a:r>
              <a:rPr sz="2300" b="1" spc="40" dirty="0">
                <a:latin typeface="Times New Roman" panose="02020603050405020304"/>
                <a:cs typeface="Times New Roman" panose="02020603050405020304"/>
              </a:rPr>
              <a:t> </a:t>
            </a:r>
            <a:r>
              <a:rPr sz="2300" b="1" dirty="0">
                <a:latin typeface="Times New Roman" panose="02020603050405020304"/>
                <a:cs typeface="Times New Roman" panose="02020603050405020304"/>
              </a:rPr>
              <a:t>for Home</a:t>
            </a:r>
            <a:r>
              <a:rPr sz="2300" b="1" spc="-100" dirty="0">
                <a:latin typeface="Times New Roman" panose="02020603050405020304"/>
                <a:cs typeface="Times New Roman" panose="02020603050405020304"/>
              </a:rPr>
              <a:t> </a:t>
            </a:r>
            <a:r>
              <a:rPr sz="2300" b="1" spc="-10" dirty="0">
                <a:latin typeface="Times New Roman" panose="02020603050405020304"/>
                <a:cs typeface="Times New Roman" panose="02020603050405020304"/>
              </a:rPr>
              <a:t>Automation Instrumentation</a:t>
            </a:r>
            <a:endParaRPr lang="en-US" sz="2300" dirty="0">
              <a:latin typeface="Times New Roman" panose="02020603050405020304"/>
              <a:cs typeface="Times New Roman" panose="02020603050405020304"/>
            </a:endParaRPr>
          </a:p>
          <a:p>
            <a:pPr marL="12065" marR="5080" algn="ctr">
              <a:lnSpc>
                <a:spcPct val="102000"/>
              </a:lnSpc>
              <a:spcBef>
                <a:spcPts val="5"/>
              </a:spcBef>
            </a:pPr>
            <a:r>
              <a:rPr lang="en-IN" sz="2300" b="1" spc="-10" dirty="0">
                <a:solidFill>
                  <a:srgbClr val="0C0C0C"/>
                </a:solidFill>
                <a:latin typeface="Times New Roman" panose="02020603050405020304"/>
                <a:cs typeface="Times New Roman" panose="02020603050405020304"/>
              </a:rPr>
              <a:t>			</a:t>
            </a:r>
            <a:r>
              <a:rPr sz="2400" b="1" spc="-10" dirty="0">
                <a:solidFill>
                  <a:srgbClr val="0C0C0C"/>
                </a:solidFill>
                <a:latin typeface="Times New Roman" panose="02020603050405020304"/>
                <a:cs typeface="Times New Roman" panose="02020603050405020304"/>
              </a:rPr>
              <a:t>Presented</a:t>
            </a:r>
            <a:r>
              <a:rPr sz="2400" b="1" spc="-80" dirty="0">
                <a:solidFill>
                  <a:srgbClr val="0C0C0C"/>
                </a:solidFill>
                <a:latin typeface="Times New Roman" panose="02020603050405020304"/>
                <a:cs typeface="Times New Roman" panose="02020603050405020304"/>
              </a:rPr>
              <a:t> </a:t>
            </a:r>
            <a:r>
              <a:rPr sz="2400" b="1" spc="-25" dirty="0">
                <a:solidFill>
                  <a:srgbClr val="0C0C0C"/>
                </a:solidFill>
                <a:latin typeface="Times New Roman" panose="02020603050405020304"/>
                <a:cs typeface="Times New Roman" panose="02020603050405020304"/>
              </a:rPr>
              <a:t>by:</a:t>
            </a:r>
            <a:endParaRPr sz="2400" dirty="0">
              <a:latin typeface="Times New Roman" panose="02020603050405020304"/>
              <a:cs typeface="Times New Roman" panose="02020603050405020304"/>
            </a:endParaRPr>
          </a:p>
        </p:txBody>
      </p:sp>
      <p:sp>
        <p:nvSpPr>
          <p:cNvPr id="7" name="object 7"/>
          <p:cNvSpPr txBox="1">
            <a:spLocks noGrp="1"/>
          </p:cNvSpPr>
          <p:nvPr>
            <p:ph type="title"/>
          </p:nvPr>
        </p:nvSpPr>
        <p:spPr>
          <a:xfrm>
            <a:off x="3876837" y="397890"/>
            <a:ext cx="4017010" cy="452120"/>
          </a:xfrm>
          <a:prstGeom prst="rect">
            <a:avLst/>
          </a:prstGeom>
        </p:spPr>
        <p:txBody>
          <a:bodyPr vert="horz" wrap="square" lIns="0" tIns="12700" rIns="0" bIns="0" rtlCol="0">
            <a:spAutoFit/>
          </a:bodyPr>
          <a:lstStyle/>
          <a:p>
            <a:pPr marL="12700">
              <a:lnSpc>
                <a:spcPct val="100000"/>
              </a:lnSpc>
              <a:spcBef>
                <a:spcPts val="100"/>
              </a:spcBef>
            </a:pPr>
            <a:r>
              <a:rPr sz="2800" spc="-25" dirty="0"/>
              <a:t>SIMATS</a:t>
            </a:r>
            <a:r>
              <a:rPr sz="2800" spc="-125" dirty="0"/>
              <a:t> </a:t>
            </a:r>
            <a:r>
              <a:rPr sz="2800" spc="-10" dirty="0"/>
              <a:t>ENGINEERING</a:t>
            </a:r>
            <a:endParaRPr sz="2800"/>
          </a:p>
        </p:txBody>
      </p:sp>
      <p:sp>
        <p:nvSpPr>
          <p:cNvPr id="8" name="object 8"/>
          <p:cNvSpPr txBox="1"/>
          <p:nvPr/>
        </p:nvSpPr>
        <p:spPr>
          <a:xfrm>
            <a:off x="3334269" y="828675"/>
            <a:ext cx="5102225" cy="635000"/>
          </a:xfrm>
          <a:prstGeom prst="rect">
            <a:avLst/>
          </a:prstGeom>
        </p:spPr>
        <p:txBody>
          <a:bodyPr vert="horz" wrap="square" lIns="0" tIns="12700" rIns="0" bIns="0" rtlCol="0">
            <a:spAutoFit/>
          </a:bodyPr>
          <a:lstStyle/>
          <a:p>
            <a:pPr marL="1123315" marR="5080" indent="-1111250">
              <a:lnSpc>
                <a:spcPct val="100000"/>
              </a:lnSpc>
              <a:spcBef>
                <a:spcPts val="100"/>
              </a:spcBef>
            </a:pPr>
            <a:r>
              <a:rPr sz="2000" b="1" spc="-55" dirty="0">
                <a:latin typeface="Times New Roman" panose="02020603050405020304"/>
                <a:cs typeface="Times New Roman" panose="02020603050405020304"/>
              </a:rPr>
              <a:t>SAVEETHA</a:t>
            </a:r>
            <a:r>
              <a:rPr sz="2000" b="1" spc="-110"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INSTITUTE</a:t>
            </a:r>
            <a:r>
              <a:rPr sz="2000" b="1" dirty="0">
                <a:latin typeface="Times New Roman" panose="02020603050405020304"/>
                <a:cs typeface="Times New Roman" panose="02020603050405020304"/>
              </a:rPr>
              <a:t> OF</a:t>
            </a:r>
            <a:r>
              <a:rPr sz="2000" b="1" spc="-75" dirty="0">
                <a:latin typeface="Times New Roman" panose="02020603050405020304"/>
                <a:cs typeface="Times New Roman" panose="02020603050405020304"/>
              </a:rPr>
              <a:t> </a:t>
            </a:r>
            <a:r>
              <a:rPr sz="2000" b="1" spc="-25" dirty="0">
                <a:latin typeface="Times New Roman" panose="02020603050405020304"/>
                <a:cs typeface="Times New Roman" panose="02020603050405020304"/>
              </a:rPr>
              <a:t>MEDICAL</a:t>
            </a:r>
            <a:r>
              <a:rPr sz="2000" b="1" spc="-220" dirty="0">
                <a:latin typeface="Times New Roman" panose="02020603050405020304"/>
                <a:cs typeface="Times New Roman" panose="02020603050405020304"/>
              </a:rPr>
              <a:t> </a:t>
            </a:r>
            <a:r>
              <a:rPr sz="2000" b="1" spc="-25" dirty="0">
                <a:latin typeface="Times New Roman" panose="02020603050405020304"/>
                <a:cs typeface="Times New Roman" panose="02020603050405020304"/>
              </a:rPr>
              <a:t>AND TECHNICAL</a:t>
            </a:r>
            <a:r>
              <a:rPr sz="2000" b="1" spc="-55" dirty="0">
                <a:latin typeface="Times New Roman" panose="02020603050405020304"/>
                <a:cs typeface="Times New Roman" panose="02020603050405020304"/>
              </a:rPr>
              <a:t> </a:t>
            </a:r>
            <a:r>
              <a:rPr sz="2000" b="1" spc="-10" dirty="0">
                <a:latin typeface="Times New Roman" panose="02020603050405020304"/>
                <a:cs typeface="Times New Roman" panose="02020603050405020304"/>
              </a:rPr>
              <a:t>SCIENCES</a:t>
            </a:r>
            <a:endParaRPr sz="2000" dirty="0">
              <a:latin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2590800">
              <a:lnSpc>
                <a:spcPct val="100000"/>
              </a:lnSpc>
              <a:spcBef>
                <a:spcPts val="100"/>
              </a:spcBef>
            </a:pPr>
            <a:r>
              <a:rPr spc="-10" dirty="0"/>
              <a:t>ABSTRACT</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7" name="TextBox 6"/>
          <p:cNvSpPr txBox="1"/>
          <p:nvPr/>
        </p:nvSpPr>
        <p:spPr>
          <a:xfrm>
            <a:off x="838201" y="1582341"/>
            <a:ext cx="7086600" cy="5016758"/>
          </a:xfrm>
          <a:prstGeom prst="rect">
            <a:avLst/>
          </a:prstGeom>
          <a:noFill/>
        </p:spPr>
        <p:txBody>
          <a:bodyPr wrap="square">
            <a:spAutoFit/>
          </a:bodyPr>
          <a:lstStyle/>
          <a:p>
            <a:pPr algn="just"/>
            <a:r>
              <a:rPr lang="en-US" sz="3200" dirty="0">
                <a:latin typeface="Times New Roman" panose="02020603050405020304" pitchFamily="18" charset="0"/>
                <a:cs typeface="Times New Roman" panose="02020603050405020304" pitchFamily="18" charset="0"/>
              </a:rPr>
              <a:t>The Intelligent Emergency Vehicle Priority System for Driveway Traffic Control is designed to reduce response time for emergency vehicles such as ambulances, fire engines, and police vehicles by providing automatic traffic priority. Traditional traffic systems do not dynamically adapt to emergency situations, leading to congestion and delays.</a:t>
            </a:r>
            <a:endParaRPr lang="en-IN" sz="3200" dirty="0">
              <a:latin typeface="Times New Roman" panose="02020603050405020304" pitchFamily="18" charset="0"/>
              <a:cs typeface="Times New Roman" panose="02020603050405020304" pitchFamily="18" charset="0"/>
            </a:endParaRPr>
          </a:p>
        </p:txBody>
      </p:sp>
      <p:pic>
        <p:nvPicPr>
          <p:cNvPr id="1026" name="Picture 2" descr="Smart Traffic Signal Implementation for Ambulance Prior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326" y="1981200"/>
            <a:ext cx="4220674" cy="37443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2409825">
              <a:lnSpc>
                <a:spcPct val="100000"/>
              </a:lnSpc>
              <a:spcBef>
                <a:spcPts val="100"/>
              </a:spcBef>
            </a:pPr>
            <a:r>
              <a:rPr spc="-10" dirty="0"/>
              <a:t>OBJECTIVES</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5638800" y="1672568"/>
            <a:ext cx="6324600" cy="5016758"/>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detect approaching emergency vehicles in real time</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provide automatic traffic priority at driveways</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reduce emergency response time</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minimize manual traffic control</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To improve safety and traffic flow efficiency</a:t>
            </a:r>
            <a:endParaRPr lang="en-US" sz="3200" dirty="0">
              <a:latin typeface="Times New Roman" panose="02020603050405020304" pitchFamily="18" charset="0"/>
              <a:cs typeface="Times New Roman" panose="02020603050405020304" pitchFamily="18" charset="0"/>
            </a:endParaRPr>
          </a:p>
        </p:txBody>
      </p:sp>
      <p:pic>
        <p:nvPicPr>
          <p:cNvPr id="2050" name="Picture 2" descr="How to Safely Share the Road with Emergency Vehicl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672568"/>
            <a:ext cx="5638800" cy="46376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1373505">
              <a:lnSpc>
                <a:spcPct val="100000"/>
              </a:lnSpc>
              <a:spcBef>
                <a:spcPts val="100"/>
              </a:spcBef>
            </a:pPr>
            <a:r>
              <a:rPr dirty="0"/>
              <a:t>PROBLEM</a:t>
            </a:r>
            <a:r>
              <a:rPr spc="-200" dirty="0"/>
              <a:t> </a:t>
            </a:r>
            <a:r>
              <a:rPr spc="-40" dirty="0"/>
              <a:t>STATEMENT</a:t>
            </a:r>
            <a:endParaRPr spc="-4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0" y="1752600"/>
            <a:ext cx="7076091" cy="440120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Emergency vehicles often face delays at residential driveways, parking exits, and private road intersections due to uncontrolled or manually operated traffic systems. Lack of real-time detection and automated priority mechanisms leads to increased response time, which can be critical during emergencies. An intelligent and automated traffic control system is required to ensure smooth and immediate passage for emergency vehicles.</a:t>
            </a:r>
            <a:endParaRPr lang="en-IN" sz="2800" dirty="0">
              <a:latin typeface="Times New Roman" panose="02020603050405020304" pitchFamily="18" charset="0"/>
              <a:cs typeface="Times New Roman" panose="02020603050405020304" pitchFamily="18" charset="0"/>
            </a:endParaRPr>
          </a:p>
        </p:txBody>
      </p:sp>
      <p:pic>
        <p:nvPicPr>
          <p:cNvPr id="3074" name="Picture 2" descr="Your Navigation App Is Making Traffic Unmanageable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800" y="1932969"/>
            <a:ext cx="5029200" cy="408683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1994535">
              <a:lnSpc>
                <a:spcPct val="100000"/>
              </a:lnSpc>
              <a:spcBef>
                <a:spcPts val="100"/>
              </a:spcBef>
            </a:pPr>
            <a:r>
              <a:rPr spc="-10" dirty="0"/>
              <a:t>INTRODUCTION</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151229" y="1534509"/>
            <a:ext cx="6440059" cy="5509200"/>
          </a:xfrm>
          <a:prstGeom prst="rect">
            <a:avLst/>
          </a:prstGeom>
          <a:noFill/>
        </p:spPr>
        <p:txBody>
          <a:bodyPr wrap="square" rtlCol="0">
            <a:spAutoFit/>
          </a:bodyPr>
          <a:lstStyle/>
          <a:p>
            <a:pPr algn="l"/>
            <a:r>
              <a:rPr lang="en-US" sz="3200" dirty="0">
                <a:latin typeface="Times New Roman" panose="02020603050405020304" pitchFamily="18" charset="0"/>
                <a:cs typeface="Times New Roman" panose="02020603050405020304" pitchFamily="18" charset="0"/>
              </a:rPr>
              <a:t>Efficient traffic management is essential, especially for emergency response systems. In residential complexes, hospitals, and private driveways, traffic congestion can obstruct emergency vehicles. With advancements in embedded systems and wireless communication, intelligent traffic control systems can dynamically prioritize emergency vehicles. </a:t>
            </a:r>
            <a:endParaRPr lang="en-IN" sz="3200" dirty="0">
              <a:latin typeface="Times New Roman" panose="02020603050405020304" pitchFamily="18" charset="0"/>
              <a:cs typeface="Times New Roman" panose="02020603050405020304" pitchFamily="18" charset="0"/>
            </a:endParaRPr>
          </a:p>
        </p:txBody>
      </p:sp>
      <p:pic>
        <p:nvPicPr>
          <p:cNvPr id="4098" name="Picture 2" descr="What is a Smart Traffic Management System? | Symmetry Electronic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1600200"/>
            <a:ext cx="5885761" cy="46887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2014855">
              <a:lnSpc>
                <a:spcPct val="100000"/>
              </a:lnSpc>
              <a:spcBef>
                <a:spcPts val="100"/>
              </a:spcBef>
            </a:pPr>
            <a:r>
              <a:rPr spc="-10" dirty="0"/>
              <a:t>METHODOLOGY</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838199" y="1905000"/>
            <a:ext cx="10491291" cy="5174493"/>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Detect emergency vehicle using sensors or RF modules</a:t>
            </a:r>
            <a:endParaRPr lang="en-IN" sz="32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Transmit detection signal to the control unit</a:t>
            </a:r>
            <a:endParaRPr lang="en-IN" sz="32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Process data using a microcontroller</a:t>
            </a:r>
            <a:endParaRPr lang="en-IN" sz="32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Override normal traffic signal operation</a:t>
            </a:r>
            <a:endParaRPr lang="en-IN" sz="32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Provide green signal or open driveway gate</a:t>
            </a:r>
            <a:endParaRPr lang="en-IN" sz="32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Restore normal traffic flow after vehicle passes</a:t>
            </a:r>
            <a:endParaRPr lang="en-IN" sz="3200" dirty="0">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Ø"/>
            </a:pPr>
            <a:endParaRPr lang="en-IN"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1430" rIns="0" bIns="0" rtlCol="0">
            <a:spAutoFit/>
          </a:bodyPr>
          <a:lstStyle/>
          <a:p>
            <a:pPr marL="2054860" marR="5080" indent="-1664970">
              <a:lnSpc>
                <a:spcPct val="101000"/>
              </a:lnSpc>
              <a:spcBef>
                <a:spcPts val="90"/>
              </a:spcBef>
            </a:pPr>
            <a:r>
              <a:rPr sz="2850" dirty="0"/>
              <a:t>SYSTEM</a:t>
            </a:r>
            <a:r>
              <a:rPr sz="2850" spc="65" dirty="0"/>
              <a:t> </a:t>
            </a:r>
            <a:r>
              <a:rPr sz="2850" dirty="0"/>
              <a:t>DESIGN/</a:t>
            </a:r>
            <a:r>
              <a:rPr sz="2850" spc="60" dirty="0"/>
              <a:t> </a:t>
            </a:r>
            <a:r>
              <a:rPr sz="2850" dirty="0"/>
              <a:t>BLOCK</a:t>
            </a:r>
            <a:r>
              <a:rPr sz="2850" spc="65" dirty="0"/>
              <a:t> </a:t>
            </a:r>
            <a:r>
              <a:rPr sz="2850" dirty="0"/>
              <a:t>DIAGRAM</a:t>
            </a:r>
            <a:r>
              <a:rPr sz="2850" spc="60" dirty="0"/>
              <a:t> </a:t>
            </a:r>
            <a:r>
              <a:rPr sz="2850" spc="-50" dirty="0"/>
              <a:t>&amp; </a:t>
            </a:r>
            <a:r>
              <a:rPr sz="2850" dirty="0"/>
              <a:t>CIRCUIT</a:t>
            </a:r>
            <a:r>
              <a:rPr sz="2850" spc="-80" dirty="0"/>
              <a:t> </a:t>
            </a:r>
            <a:r>
              <a:rPr sz="2850" spc="-10" dirty="0"/>
              <a:t>DIAGRAM</a:t>
            </a:r>
            <a:endParaRPr sz="285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pic>
        <p:nvPicPr>
          <p:cNvPr id="6146" name="Picture 2" descr="How to Build an Arduino Traffic Light Controller | 4-Way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2468" y="1905143"/>
            <a:ext cx="9481919" cy="4191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45085">
              <a:lnSpc>
                <a:spcPct val="100000"/>
              </a:lnSpc>
              <a:spcBef>
                <a:spcPts val="100"/>
              </a:spcBef>
            </a:pPr>
            <a:r>
              <a:rPr spc="-50" dirty="0"/>
              <a:t>HARDWARE</a:t>
            </a:r>
            <a:r>
              <a:rPr spc="-100" dirty="0"/>
              <a:t> </a:t>
            </a:r>
            <a:r>
              <a:rPr dirty="0"/>
              <a:t>USED</a:t>
            </a:r>
            <a:r>
              <a:rPr spc="-60" dirty="0"/>
              <a:t> </a:t>
            </a:r>
            <a:r>
              <a:rPr dirty="0"/>
              <a:t>&amp;</a:t>
            </a:r>
            <a:r>
              <a:rPr spc="-55" dirty="0"/>
              <a:t> </a:t>
            </a:r>
            <a:r>
              <a:rPr spc="-10" dirty="0"/>
              <a:t>COST</a:t>
            </a:r>
            <a:r>
              <a:rPr spc="-240" dirty="0"/>
              <a:t> </a:t>
            </a:r>
            <a:r>
              <a:rPr spc="-10" dirty="0"/>
              <a:t>ANALYSIS</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graphicFrame>
        <p:nvGraphicFramePr>
          <p:cNvPr id="6" name="Table 5"/>
          <p:cNvGraphicFramePr>
            <a:graphicFrameLocks noGrp="1"/>
          </p:cNvGraphicFramePr>
          <p:nvPr/>
        </p:nvGraphicFramePr>
        <p:xfrm>
          <a:off x="1215347" y="1504388"/>
          <a:ext cx="9753600" cy="5259243"/>
        </p:xfrm>
        <a:graphic>
          <a:graphicData uri="http://schemas.openxmlformats.org/drawingml/2006/table">
            <a:tbl>
              <a:tblPr firstRow="1" bandRow="1">
                <a:tableStyleId>{5C22544A-7EE6-4342-B048-85BDC9FD1C3A}</a:tableStyleId>
              </a:tblPr>
              <a:tblGrid>
                <a:gridCol w="2438400"/>
                <a:gridCol w="2438400"/>
                <a:gridCol w="2438400"/>
                <a:gridCol w="2438400"/>
              </a:tblGrid>
              <a:tr h="553012">
                <a:tc>
                  <a:txBody>
                    <a:bodyPr/>
                    <a:lstStyle/>
                    <a:p>
                      <a:pPr algn="l" fontAlgn="b">
                        <a:lnSpc>
                          <a:spcPts val="1200"/>
                        </a:lnSpc>
                        <a:buNone/>
                      </a:pPr>
                      <a:r>
                        <a:rPr lang="en-IN" b="1" dirty="0" err="1">
                          <a:solidFill>
                            <a:schemeClr val="tx1"/>
                          </a:solidFill>
                          <a:effectLst/>
                          <a:latin typeface="Times New Roman" panose="02020603050405020304" pitchFamily="18" charset="0"/>
                          <a:cs typeface="Times New Roman" panose="02020603050405020304" pitchFamily="18" charset="0"/>
                        </a:rPr>
                        <a:t>S.No</a:t>
                      </a:r>
                      <a:endParaRPr lang="en-IN" b="1" dirty="0">
                        <a:solidFill>
                          <a:schemeClr val="tx1"/>
                        </a:solidFill>
                        <a:effectLst/>
                        <a:latin typeface="Times New Roman" panose="02020603050405020304" pitchFamily="18" charset="0"/>
                        <a:cs typeface="Times New Roman" panose="02020603050405020304" pitchFamily="18" charset="0"/>
                      </a:endParaRPr>
                    </a:p>
                  </a:txBody>
                  <a:tcPr marR="152400" anchor="b"/>
                </a:tc>
                <a:tc>
                  <a:txBody>
                    <a:bodyPr/>
                    <a:lstStyle/>
                    <a:p>
                      <a:pPr algn="l" fontAlgn="b">
                        <a:lnSpc>
                          <a:spcPts val="1200"/>
                        </a:lnSpc>
                        <a:buNone/>
                      </a:pPr>
                      <a:r>
                        <a:rPr lang="en-IN" b="1">
                          <a:solidFill>
                            <a:schemeClr val="tx1"/>
                          </a:solidFill>
                          <a:effectLst/>
                          <a:latin typeface="Times New Roman" panose="02020603050405020304" pitchFamily="18" charset="0"/>
                          <a:cs typeface="Times New Roman" panose="02020603050405020304" pitchFamily="18" charset="0"/>
                        </a:rPr>
                        <a:t>Hardware Component</a:t>
                      </a:r>
                      <a:endParaRPr lang="en-IN" b="1">
                        <a:solidFill>
                          <a:schemeClr val="tx1"/>
                        </a:solidFill>
                        <a:effectLst/>
                        <a:latin typeface="Times New Roman" panose="02020603050405020304" pitchFamily="18" charset="0"/>
                        <a:cs typeface="Times New Roman" panose="02020603050405020304" pitchFamily="18" charset="0"/>
                      </a:endParaRPr>
                    </a:p>
                  </a:txBody>
                  <a:tcPr marR="152400" anchor="b"/>
                </a:tc>
                <a:tc>
                  <a:txBody>
                    <a:bodyPr/>
                    <a:lstStyle/>
                    <a:p>
                      <a:pPr algn="l" fontAlgn="b">
                        <a:lnSpc>
                          <a:spcPts val="1200"/>
                        </a:lnSpc>
                        <a:buNone/>
                      </a:pPr>
                      <a:r>
                        <a:rPr lang="en-IN" b="1">
                          <a:solidFill>
                            <a:schemeClr val="tx1"/>
                          </a:solidFill>
                          <a:effectLst/>
                          <a:latin typeface="Times New Roman" panose="02020603050405020304" pitchFamily="18" charset="0"/>
                          <a:cs typeface="Times New Roman" panose="02020603050405020304" pitchFamily="18" charset="0"/>
                        </a:rPr>
                        <a:t>Quantity</a:t>
                      </a:r>
                      <a:endParaRPr lang="en-IN" b="1">
                        <a:solidFill>
                          <a:schemeClr val="tx1"/>
                        </a:solidFill>
                        <a:effectLst/>
                        <a:latin typeface="Times New Roman" panose="02020603050405020304" pitchFamily="18" charset="0"/>
                        <a:cs typeface="Times New Roman" panose="02020603050405020304" pitchFamily="18" charset="0"/>
                      </a:endParaRPr>
                    </a:p>
                  </a:txBody>
                  <a:tcPr marR="152400" anchor="b"/>
                </a:tc>
                <a:tc>
                  <a:txBody>
                    <a:bodyPr/>
                    <a:lstStyle/>
                    <a:p>
                      <a:pPr algn="l" fontAlgn="b">
                        <a:lnSpc>
                          <a:spcPts val="1200"/>
                        </a:lnSpc>
                        <a:buNone/>
                      </a:pPr>
                      <a:r>
                        <a:rPr lang="en-IN" b="1">
                          <a:solidFill>
                            <a:schemeClr val="tx1"/>
                          </a:solidFill>
                          <a:effectLst/>
                          <a:latin typeface="Times New Roman" panose="02020603050405020304" pitchFamily="18" charset="0"/>
                          <a:cs typeface="Times New Roman" panose="02020603050405020304" pitchFamily="18" charset="0"/>
                        </a:rPr>
                        <a:t>Approx. Cost (INR)</a:t>
                      </a:r>
                      <a:endParaRPr lang="en-IN" b="1">
                        <a:solidFill>
                          <a:schemeClr val="tx1"/>
                        </a:solidFill>
                        <a:effectLst/>
                        <a:latin typeface="Times New Roman" panose="02020603050405020304" pitchFamily="18" charset="0"/>
                        <a:cs typeface="Times New Roman" panose="02020603050405020304" pitchFamily="18" charset="0"/>
                      </a:endParaRPr>
                    </a:p>
                  </a:txBody>
                  <a:tcPr anchor="b"/>
                </a:tc>
              </a:tr>
              <a:tr h="377948">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US" dirty="0">
                          <a:solidFill>
                            <a:schemeClr val="tx1"/>
                          </a:solidFill>
                          <a:effectLst/>
                          <a:latin typeface="Times New Roman" panose="02020603050405020304" pitchFamily="18" charset="0"/>
                          <a:cs typeface="Times New Roman" panose="02020603050405020304" pitchFamily="18" charset="0"/>
                        </a:rPr>
                        <a:t>E</a:t>
                      </a:r>
                      <a:r>
                        <a:rPr lang="en-IN" dirty="0">
                          <a:solidFill>
                            <a:schemeClr val="tx1"/>
                          </a:solidFill>
                          <a:effectLst/>
                          <a:latin typeface="Times New Roman" panose="02020603050405020304" pitchFamily="18" charset="0"/>
                          <a:cs typeface="Times New Roman" panose="02020603050405020304" pitchFamily="18" charset="0"/>
                        </a:rPr>
                        <a:t>SP 32</a:t>
                      </a:r>
                      <a:endParaRPr lang="en-IN" dirty="0">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US" dirty="0">
                          <a:solidFill>
                            <a:schemeClr val="tx1"/>
                          </a:solidFill>
                          <a:effectLst/>
                          <a:latin typeface="Times New Roman" panose="02020603050405020304" pitchFamily="18" charset="0"/>
                          <a:cs typeface="Times New Roman" panose="02020603050405020304" pitchFamily="18" charset="0"/>
                        </a:rPr>
                        <a:t>2</a:t>
                      </a:r>
                      <a:endParaRPr lang="en-IN" dirty="0">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dirty="0">
                          <a:solidFill>
                            <a:schemeClr val="tx1"/>
                          </a:solidFill>
                          <a:effectLst/>
                          <a:latin typeface="Times New Roman" panose="02020603050405020304" pitchFamily="18" charset="0"/>
                          <a:cs typeface="Times New Roman" panose="02020603050405020304" pitchFamily="18" charset="0"/>
                        </a:rPr>
                        <a:t>₹1200</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r>
              <a:tr h="652349">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2</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Sound Detection Sensor</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4</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₹800</a:t>
                      </a:r>
                      <a:endParaRPr lang="en-IN">
                        <a:solidFill>
                          <a:schemeClr val="tx1"/>
                        </a:solidFill>
                        <a:effectLst/>
                        <a:latin typeface="Times New Roman" panose="02020603050405020304" pitchFamily="18" charset="0"/>
                        <a:cs typeface="Times New Roman" panose="02020603050405020304" pitchFamily="18" charset="0"/>
                      </a:endParaRPr>
                    </a:p>
                  </a:txBody>
                  <a:tcPr anchor="ctr"/>
                </a:tc>
              </a:tr>
              <a:tr h="377948">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3</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RF Transmitter Module</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dirty="0">
                          <a:solidFill>
                            <a:schemeClr val="tx1"/>
                          </a:solidFill>
                          <a:effectLst/>
                          <a:latin typeface="Times New Roman" panose="02020603050405020304" pitchFamily="18" charset="0"/>
                          <a:cs typeface="Times New Roman" panose="02020603050405020304" pitchFamily="18" charset="0"/>
                        </a:rPr>
                        <a:t>₹350</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r>
              <a:tr h="377948">
                <a:tc>
                  <a:txBody>
                    <a:bodyPr/>
                    <a:lstStyle/>
                    <a:p>
                      <a:pPr algn="l" fontAlgn="base">
                        <a:buNone/>
                      </a:pPr>
                      <a:r>
                        <a:rPr lang="en-IN" dirty="0">
                          <a:solidFill>
                            <a:schemeClr val="tx1"/>
                          </a:solidFill>
                          <a:effectLst/>
                          <a:latin typeface="Times New Roman" panose="02020603050405020304" pitchFamily="18" charset="0"/>
                          <a:cs typeface="Times New Roman" panose="02020603050405020304" pitchFamily="18" charset="0"/>
                        </a:rPr>
                        <a:t>4</a:t>
                      </a:r>
                      <a:endParaRPr lang="en-IN" dirty="0">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RF Receiver Module</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dirty="0">
                          <a:solidFill>
                            <a:schemeClr val="tx1"/>
                          </a:solidFill>
                          <a:effectLst/>
                          <a:latin typeface="Times New Roman" panose="02020603050405020304" pitchFamily="18" charset="0"/>
                          <a:cs typeface="Times New Roman" panose="02020603050405020304" pitchFamily="18" charset="0"/>
                        </a:rPr>
                        <a:t>₹360</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r>
              <a:tr h="652349">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5</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LEDs (Red, Yellow, Green)</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12</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₹120</a:t>
                      </a:r>
                      <a:endParaRPr lang="en-IN">
                        <a:solidFill>
                          <a:schemeClr val="tx1"/>
                        </a:solidFill>
                        <a:effectLst/>
                        <a:latin typeface="Times New Roman" panose="02020603050405020304" pitchFamily="18" charset="0"/>
                        <a:cs typeface="Times New Roman" panose="02020603050405020304" pitchFamily="18" charset="0"/>
                      </a:endParaRPr>
                    </a:p>
                  </a:txBody>
                  <a:tcPr anchor="ctr"/>
                </a:tc>
              </a:tr>
              <a:tr h="377948">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6</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b="1" dirty="0">
                          <a:solidFill>
                            <a:schemeClr val="tx1"/>
                          </a:solidFill>
                          <a:effectLst/>
                          <a:latin typeface="Times New Roman" panose="02020603050405020304" pitchFamily="18" charset="0"/>
                          <a:cs typeface="Times New Roman" panose="02020603050405020304" pitchFamily="18" charset="0"/>
                        </a:rPr>
                        <a:t>16×2 LCD Display</a:t>
                      </a:r>
                      <a:endParaRPr lang="en-IN" dirty="0">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US" dirty="0">
                          <a:solidFill>
                            <a:schemeClr val="tx1"/>
                          </a:solidFill>
                          <a:effectLst/>
                          <a:latin typeface="Times New Roman" panose="02020603050405020304" pitchFamily="18" charset="0"/>
                          <a:cs typeface="Times New Roman" panose="02020603050405020304" pitchFamily="18" charset="0"/>
                        </a:rPr>
                        <a:t>4</a:t>
                      </a:r>
                      <a:endParaRPr lang="en-IN" dirty="0">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dirty="0">
                          <a:solidFill>
                            <a:schemeClr val="tx1"/>
                          </a:solidFill>
                          <a:effectLst/>
                          <a:latin typeface="Times New Roman" panose="02020603050405020304" pitchFamily="18" charset="0"/>
                          <a:cs typeface="Times New Roman" panose="02020603050405020304" pitchFamily="18" charset="0"/>
                        </a:rPr>
                        <a:t>₹1000</a:t>
                      </a:r>
                      <a:endParaRPr lang="en-IN" dirty="0">
                        <a:solidFill>
                          <a:schemeClr val="tx1"/>
                        </a:solidFill>
                        <a:effectLst/>
                        <a:latin typeface="Times New Roman" panose="02020603050405020304" pitchFamily="18" charset="0"/>
                        <a:cs typeface="Times New Roman" panose="02020603050405020304" pitchFamily="18" charset="0"/>
                      </a:endParaRPr>
                    </a:p>
                  </a:txBody>
                  <a:tcPr anchor="ctr"/>
                </a:tc>
              </a:tr>
              <a:tr h="652349">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7</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Resistors &amp; Jumper Wires</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As required</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₹100</a:t>
                      </a:r>
                      <a:endParaRPr lang="en-IN">
                        <a:solidFill>
                          <a:schemeClr val="tx1"/>
                        </a:solidFill>
                        <a:effectLst/>
                        <a:latin typeface="Times New Roman" panose="02020603050405020304" pitchFamily="18" charset="0"/>
                        <a:cs typeface="Times New Roman" panose="02020603050405020304" pitchFamily="18" charset="0"/>
                      </a:endParaRPr>
                    </a:p>
                  </a:txBody>
                  <a:tcPr anchor="ctr"/>
                </a:tc>
              </a:tr>
              <a:tr h="377948">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8</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Breadboard</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₹150</a:t>
                      </a:r>
                      <a:endParaRPr lang="en-IN">
                        <a:solidFill>
                          <a:schemeClr val="tx1"/>
                        </a:solidFill>
                        <a:effectLst/>
                        <a:latin typeface="Times New Roman" panose="02020603050405020304" pitchFamily="18" charset="0"/>
                        <a:cs typeface="Times New Roman" panose="02020603050405020304" pitchFamily="18" charset="0"/>
                      </a:endParaRPr>
                    </a:p>
                  </a:txBody>
                  <a:tcPr anchor="ctr"/>
                </a:tc>
              </a:tr>
              <a:tr h="377948">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9</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Power Supply</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1</a:t>
                      </a:r>
                      <a:endParaRPr lang="en-IN">
                        <a:solidFill>
                          <a:schemeClr val="tx1"/>
                        </a:solidFill>
                        <a:effectLst/>
                        <a:latin typeface="Times New Roman" panose="02020603050405020304" pitchFamily="18" charset="0"/>
                        <a:cs typeface="Times New Roman" panose="02020603050405020304" pitchFamily="18" charset="0"/>
                      </a:endParaRPr>
                    </a:p>
                  </a:txBody>
                  <a:tcPr marR="152400" anchor="ctr"/>
                </a:tc>
                <a:tc>
                  <a:txBody>
                    <a:bodyPr/>
                    <a:lstStyle/>
                    <a:p>
                      <a:pPr algn="l" fontAlgn="base">
                        <a:buNone/>
                      </a:pPr>
                      <a:r>
                        <a:rPr lang="en-IN">
                          <a:solidFill>
                            <a:schemeClr val="tx1"/>
                          </a:solidFill>
                          <a:effectLst/>
                          <a:latin typeface="Times New Roman" panose="02020603050405020304" pitchFamily="18" charset="0"/>
                          <a:cs typeface="Times New Roman" panose="02020603050405020304" pitchFamily="18" charset="0"/>
                        </a:rPr>
                        <a:t>₹200</a:t>
                      </a:r>
                      <a:endParaRPr lang="en-IN">
                        <a:solidFill>
                          <a:schemeClr val="tx1"/>
                        </a:solidFill>
                        <a:effectLst/>
                        <a:latin typeface="Times New Roman" panose="02020603050405020304" pitchFamily="18" charset="0"/>
                        <a:cs typeface="Times New Roman" panose="02020603050405020304" pitchFamily="18" charset="0"/>
                      </a:endParaRPr>
                    </a:p>
                  </a:txBody>
                  <a:tcPr anchor="ctr"/>
                </a:tc>
              </a:tr>
              <a:tr h="481496">
                <a:tc>
                  <a:txBody>
                    <a:bodyPr/>
                    <a:lstStyle/>
                    <a:p>
                      <a:pPr algn="l" fontAlgn="base">
                        <a:buNone/>
                      </a:pPr>
                      <a:r>
                        <a:rPr lang="en-IN" b="1">
                          <a:solidFill>
                            <a:schemeClr val="tx1"/>
                          </a:solidFill>
                          <a:effectLst/>
                          <a:latin typeface="Times New Roman" panose="02020603050405020304" pitchFamily="18" charset="0"/>
                          <a:cs typeface="Times New Roman" panose="02020603050405020304" pitchFamily="18" charset="0"/>
                        </a:rPr>
                        <a:t>Total Cost</a:t>
                      </a:r>
                      <a:endParaRPr lang="en-IN">
                        <a:solidFill>
                          <a:schemeClr val="tx1"/>
                        </a:solidFill>
                        <a:effectLst/>
                        <a:latin typeface="Times New Roman" panose="02020603050405020304" pitchFamily="18" charset="0"/>
                        <a:cs typeface="Times New Roman" panose="02020603050405020304" pitchFamily="18" charset="0"/>
                      </a:endParaRPr>
                    </a:p>
                  </a:txBody>
                  <a:tcPr marR="152400" marB="152400" anchor="ctr"/>
                </a:tc>
                <a:tc>
                  <a:txBody>
                    <a:bodyPr/>
                    <a:lstStyle/>
                    <a:p>
                      <a:pPr algn="l" fontAlgn="base">
                        <a:buNone/>
                      </a:pPr>
                      <a:endParaRPr lang="en-IN">
                        <a:solidFill>
                          <a:schemeClr val="tx1"/>
                        </a:solidFill>
                        <a:effectLst/>
                        <a:latin typeface="Times New Roman" panose="02020603050405020304" pitchFamily="18" charset="0"/>
                        <a:cs typeface="Times New Roman" panose="02020603050405020304" pitchFamily="18" charset="0"/>
                      </a:endParaRPr>
                    </a:p>
                  </a:txBody>
                  <a:tcPr marR="152400" marB="152400" anchor="ctr"/>
                </a:tc>
                <a:tc>
                  <a:txBody>
                    <a:bodyPr/>
                    <a:lstStyle/>
                    <a:p>
                      <a:pPr algn="l" fontAlgn="base">
                        <a:buNone/>
                      </a:pPr>
                      <a:endParaRPr lang="en-IN">
                        <a:solidFill>
                          <a:schemeClr val="tx1"/>
                        </a:solidFill>
                        <a:effectLst/>
                        <a:latin typeface="Times New Roman" panose="02020603050405020304" pitchFamily="18" charset="0"/>
                        <a:cs typeface="Times New Roman" panose="02020603050405020304" pitchFamily="18" charset="0"/>
                      </a:endParaRPr>
                    </a:p>
                  </a:txBody>
                  <a:tcPr marR="152400" marB="152400" anchor="ctr"/>
                </a:tc>
                <a:tc>
                  <a:txBody>
                    <a:bodyPr/>
                    <a:lstStyle/>
                    <a:p>
                      <a:pPr algn="l" fontAlgn="base">
                        <a:buNone/>
                      </a:pPr>
                      <a:r>
                        <a:rPr lang="en-IN" b="1" dirty="0">
                          <a:solidFill>
                            <a:schemeClr val="tx1"/>
                          </a:solidFill>
                          <a:effectLst/>
                          <a:latin typeface="Times New Roman" panose="02020603050405020304" pitchFamily="18" charset="0"/>
                          <a:cs typeface="Times New Roman" panose="02020603050405020304" pitchFamily="18" charset="0"/>
                        </a:rPr>
                        <a:t>₹4380 (Approx.)</a:t>
                      </a:r>
                      <a:endParaRPr lang="en-IN" dirty="0">
                        <a:solidFill>
                          <a:schemeClr val="tx1"/>
                        </a:solidFill>
                        <a:effectLst/>
                        <a:latin typeface="Times New Roman" panose="02020603050405020304" pitchFamily="18" charset="0"/>
                        <a:cs typeface="Times New Roman" panose="02020603050405020304" pitchFamily="18" charset="0"/>
                      </a:endParaRPr>
                    </a:p>
                  </a:txBody>
                  <a:tcPr marB="152400" anchor="ct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98857" y="268386"/>
            <a:ext cx="7394285" cy="984885"/>
          </a:xfrm>
        </p:spPr>
        <p:txBody>
          <a:bodyPr/>
          <a:p>
            <a:r>
              <a:rPr lang="en-US" altLang="en-US"/>
              <a:t>MODULE 1: Smart Traffic Signal Control System</a:t>
            </a:r>
            <a:endParaRPr lang="en-US" altLang="en-US"/>
          </a:p>
        </p:txBody>
      </p:sp>
      <p:sp>
        <p:nvSpPr>
          <p:cNvPr id="3" name="Text Box 2"/>
          <p:cNvSpPr txBox="1"/>
          <p:nvPr/>
        </p:nvSpPr>
        <p:spPr>
          <a:xfrm>
            <a:off x="1066800" y="1600200"/>
            <a:ext cx="9413240" cy="4831080"/>
          </a:xfrm>
          <a:prstGeom prst="rect">
            <a:avLst/>
          </a:prstGeom>
          <a:noFill/>
        </p:spPr>
        <p:txBody>
          <a:bodyPr wrap="square" rtlCol="0">
            <a:spAutoFit/>
          </a:bodyPr>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Implements an automated four-way traffic junction</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Uses ESP32-A as the central traffic controller</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Cycles traffic lights in North, East, South, West directions</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Manages Green → Yellow → Red timing sequence</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Reduces manual intervention and improves traffic discipline</a:t>
            </a: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altLang="en-US" sz="280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Provides a base framework for intelligent traffic systems</a:t>
            </a: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466850" y="268605"/>
            <a:ext cx="8163560" cy="984885"/>
          </a:xfrm>
        </p:spPr>
        <p:txBody>
          <a:bodyPr wrap="square"/>
          <a:p>
            <a:r>
              <a:rPr lang="en-US" altLang="en-US"/>
              <a:t>MODULE 2: Multi-Display Information System (OLED + I²C Multiplexer)</a:t>
            </a:r>
            <a:endParaRPr lang="en-US" altLang="en-US"/>
          </a:p>
        </p:txBody>
      </p:sp>
      <p:sp>
        <p:nvSpPr>
          <p:cNvPr id="3" name="Text Box 2"/>
          <p:cNvSpPr txBox="1"/>
          <p:nvPr/>
        </p:nvSpPr>
        <p:spPr>
          <a:xfrm>
            <a:off x="901065" y="1735455"/>
            <a:ext cx="8502650" cy="5077460"/>
          </a:xfrm>
          <a:prstGeom prst="rect">
            <a:avLst/>
          </a:prstGeom>
          <a:noFill/>
        </p:spPr>
        <p:txBody>
          <a:bodyPr wrap="square" rtlCol="0">
            <a:spAutoFit/>
          </a:bodyPr>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Uses ESP32-B as a dedicated display controller</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Integrates 4 I²C OLED displays for four directions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Employs TCA9548A I²C multiplexer to avoid address conflicts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Displays real-time traffic status and countdown timers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Shows emergency alerts and guidance messages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Ensures stable and synchronized display updates</a:t>
            </a:r>
            <a:endParaRPr lang="en-US" altLang="en-US" sz="27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98857" y="268386"/>
            <a:ext cx="7394285" cy="984885"/>
          </a:xfrm>
        </p:spPr>
        <p:txBody>
          <a:bodyPr/>
          <a:p>
            <a:r>
              <a:rPr lang="en-US" altLang="en-US"/>
              <a:t>MODULE 3: Emergency Vehicle Detection Using Sound Sensors</a:t>
            </a:r>
            <a:endParaRPr lang="en-US" altLang="en-US"/>
          </a:p>
        </p:txBody>
      </p:sp>
      <p:sp>
        <p:nvSpPr>
          <p:cNvPr id="3" name="Text Box 2"/>
          <p:cNvSpPr txBox="1"/>
          <p:nvPr/>
        </p:nvSpPr>
        <p:spPr>
          <a:xfrm>
            <a:off x="750570" y="1608455"/>
            <a:ext cx="8952230" cy="5077460"/>
          </a:xfrm>
          <a:prstGeom prst="rect">
            <a:avLst/>
          </a:prstGeom>
          <a:noFill/>
        </p:spPr>
        <p:txBody>
          <a:bodyPr wrap="square" rtlCol="0">
            <a:spAutoFit/>
          </a:bodyPr>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Deploys sound sensors in all four directions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Detects ambulance siren patterns near the junction</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Identifies the direction of the emergency vehicle</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Triggers priority handling before the vehicle reaches the signal</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Reduces response delay for emergency services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Enhances road safety and saves critical time</a:t>
            </a:r>
            <a:endParaRPr lang="en-US" altLang="en-US" sz="27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98857" y="268386"/>
            <a:ext cx="7394285" cy="984885"/>
          </a:xfrm>
        </p:spPr>
        <p:txBody>
          <a:bodyPr/>
          <a:p>
            <a:r>
              <a:rPr lang="en-US" altLang="en-US"/>
              <a:t>MODULE 4: RF-Based Emergency Confirmation System</a:t>
            </a:r>
            <a:endParaRPr lang="en-US" altLang="en-US"/>
          </a:p>
        </p:txBody>
      </p:sp>
      <p:sp>
        <p:nvSpPr>
          <p:cNvPr id="3" name="Text Box 2"/>
          <p:cNvSpPr txBox="1"/>
          <p:nvPr/>
        </p:nvSpPr>
        <p:spPr>
          <a:xfrm>
            <a:off x="958850" y="1654810"/>
            <a:ext cx="8550910" cy="4661535"/>
          </a:xfrm>
          <a:prstGeom prst="rect">
            <a:avLst/>
          </a:prstGeom>
          <a:noFill/>
        </p:spPr>
        <p:txBody>
          <a:bodyPr wrap="square" rtlCol="0">
            <a:spAutoFit/>
          </a:bodyPr>
          <a:p>
            <a:pPr marL="457200" indent="-457200">
              <a:buFont typeface="Arial" panose="020B0604020202020204" pitchFamily="34" charset="0"/>
              <a:buChar char="•"/>
            </a:pPr>
            <a:r>
              <a:rPr lang="en-US" altLang="en-US" sz="2700" b="0">
                <a:latin typeface="Times New Roman" panose="02020603050405020304" pitchFamily="18" charset="0"/>
                <a:cs typeface="Times New Roman" panose="02020603050405020304" pitchFamily="18" charset="0"/>
              </a:rPr>
              <a:t>Uses RF transmitter installed in the ambulance</a:t>
            </a: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b="0">
                <a:latin typeface="Times New Roman" panose="02020603050405020304" pitchFamily="18" charset="0"/>
                <a:cs typeface="Times New Roman" panose="02020603050405020304" pitchFamily="18" charset="0"/>
              </a:rPr>
              <a:t>Uses RF receiver connected to ESP32-A at the junction</a:t>
            </a: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b="0">
                <a:latin typeface="Times New Roman" panose="02020603050405020304" pitchFamily="18" charset="0"/>
                <a:cs typeface="Times New Roman" panose="02020603050405020304" pitchFamily="18" charset="0"/>
              </a:rPr>
              <a:t>Confirms the actual arrival of the emergency vehicle</a:t>
            </a: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b="0">
                <a:latin typeface="Times New Roman" panose="02020603050405020304" pitchFamily="18" charset="0"/>
                <a:cs typeface="Times New Roman" panose="02020603050405020304" pitchFamily="18" charset="0"/>
              </a:rPr>
              <a:t>Filters noise using time-based RF signal validation</a:t>
            </a: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b="0">
                <a:latin typeface="Times New Roman" panose="02020603050405020304" pitchFamily="18" charset="0"/>
                <a:cs typeface="Times New Roman" panose="02020603050405020304" pitchFamily="18" charset="0"/>
              </a:rPr>
              <a:t>Prevents false emergency triggers</a:t>
            </a: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b="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b="0">
                <a:latin typeface="Times New Roman" panose="02020603050405020304" pitchFamily="18" charset="0"/>
                <a:cs typeface="Times New Roman" panose="02020603050405020304" pitchFamily="18" charset="0"/>
              </a:rPr>
              <a:t>Ensures reliable and intentional emergency clearance</a:t>
            </a:r>
            <a:endParaRPr lang="en-US" altLang="en-US" sz="2700" b="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398857" y="268386"/>
            <a:ext cx="7394285" cy="984885"/>
          </a:xfrm>
        </p:spPr>
        <p:txBody>
          <a:bodyPr/>
          <a:p>
            <a:r>
              <a:rPr lang="en-US" altLang="en-US"/>
              <a:t>MODULE 5: Intelligent Priority &amp; Recovery Logic</a:t>
            </a:r>
            <a:endParaRPr lang="en-US" altLang="en-US"/>
          </a:p>
        </p:txBody>
      </p:sp>
      <p:sp>
        <p:nvSpPr>
          <p:cNvPr id="3" name="Text Box 2"/>
          <p:cNvSpPr txBox="1"/>
          <p:nvPr/>
        </p:nvSpPr>
        <p:spPr>
          <a:xfrm>
            <a:off x="947420" y="1677670"/>
            <a:ext cx="8702675" cy="5077460"/>
          </a:xfrm>
          <a:prstGeom prst="rect">
            <a:avLst/>
          </a:prstGeom>
          <a:noFill/>
        </p:spPr>
        <p:txBody>
          <a:bodyPr wrap="square" rtlCol="0">
            <a:spAutoFit/>
          </a:bodyPr>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Automatically creates a green corridor for ambulances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Blocks all other directions during emergency passage</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Displays “PLEASE GIVE WAY” messages on OLEDs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Detects ambulance exit using opposite-direction sound sensors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Restores normal traffic flow after emergency passes</a:t>
            </a: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altLang="en-US" sz="27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700">
                <a:latin typeface="Times New Roman" panose="02020603050405020304" pitchFamily="18" charset="0"/>
                <a:cs typeface="Times New Roman" panose="02020603050405020304" pitchFamily="18" charset="0"/>
              </a:rPr>
              <a:t>Uses a state-machine-based control algorithm for stability</a:t>
            </a:r>
            <a:endParaRPr lang="en-US" altLang="en-US" sz="27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1276985">
              <a:lnSpc>
                <a:spcPct val="100000"/>
              </a:lnSpc>
              <a:spcBef>
                <a:spcPts val="100"/>
              </a:spcBef>
            </a:pPr>
            <a:r>
              <a:rPr spc="-45" dirty="0"/>
              <a:t>RESULTS</a:t>
            </a:r>
            <a:r>
              <a:rPr spc="-75" dirty="0"/>
              <a:t> </a:t>
            </a:r>
            <a:r>
              <a:rPr dirty="0"/>
              <a:t>&amp;</a:t>
            </a:r>
            <a:r>
              <a:rPr spc="-65" dirty="0"/>
              <a:t> </a:t>
            </a:r>
            <a:r>
              <a:rPr spc="-10" dirty="0"/>
              <a:t>DISCUSSION</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391320" y="1521656"/>
            <a:ext cx="11643023" cy="5293757"/>
          </a:xfrm>
          <a:prstGeom prst="rect">
            <a:avLst/>
          </a:prstGeom>
          <a:noFill/>
        </p:spPr>
        <p:txBody>
          <a:bodyPr wrap="square" rtlCol="0">
            <a:spAutoFit/>
          </a:bodyPr>
          <a:lstStyle/>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system successfully detected emergency vehicle sirens using sound sensors.</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RF transmitter in the ambulance and RF receiver at the signal ensured reliable priority communication.</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Arduino accurately identified the direction of the approaching emergency vehicle.</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The corresponding signal turned </a:t>
            </a:r>
            <a:r>
              <a:rPr lang="en-US" sz="3200" b="1" dirty="0">
                <a:latin typeface="Times New Roman" panose="02020603050405020304" pitchFamily="18" charset="0"/>
                <a:cs typeface="Times New Roman" panose="02020603050405020304" pitchFamily="18" charset="0"/>
              </a:rPr>
              <a:t>GREEN</a:t>
            </a:r>
            <a:r>
              <a:rPr lang="en-US" sz="3200" dirty="0">
                <a:latin typeface="Times New Roman" panose="02020603050405020304" pitchFamily="18" charset="0"/>
                <a:cs typeface="Times New Roman" panose="02020603050405020304" pitchFamily="18" charset="0"/>
              </a:rPr>
              <a:t>, while other three directions remained </a:t>
            </a:r>
            <a:r>
              <a:rPr lang="en-US" sz="3200" b="1" dirty="0">
                <a:latin typeface="Times New Roman" panose="02020603050405020304" pitchFamily="18" charset="0"/>
                <a:cs typeface="Times New Roman" panose="02020603050405020304" pitchFamily="18" charset="0"/>
              </a:rPr>
              <a:t>RED</a:t>
            </a:r>
            <a:r>
              <a:rPr lang="en-US"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LCD display clearly showed emergency status and active signal direction.</a:t>
            </a:r>
            <a:endParaRPr lang="en-US" sz="3200"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645160">
              <a:lnSpc>
                <a:spcPct val="100000"/>
              </a:lnSpc>
              <a:spcBef>
                <a:spcPts val="100"/>
              </a:spcBef>
            </a:pPr>
            <a:r>
              <a:rPr spc="-10" dirty="0"/>
              <a:t>CHALLENGES</a:t>
            </a:r>
            <a:r>
              <a:rPr spc="-90" dirty="0"/>
              <a:t> </a:t>
            </a:r>
            <a:r>
              <a:rPr dirty="0"/>
              <a:t>&amp;</a:t>
            </a:r>
            <a:r>
              <a:rPr spc="-85" dirty="0"/>
              <a:t> </a:t>
            </a:r>
            <a:r>
              <a:rPr spc="-25" dirty="0"/>
              <a:t>LIMITATIONS</a:t>
            </a:r>
            <a:endParaRPr spc="-25"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39506" y="1407049"/>
            <a:ext cx="8077199" cy="5509200"/>
          </a:xfrm>
          <a:prstGeom prst="rect">
            <a:avLst/>
          </a:prstGeom>
          <a:noFill/>
        </p:spPr>
        <p:txBody>
          <a:bodyPr wrap="square" rtlCol="0">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Sound sensors may falsely trigger due to loud noises like horns or sirens from non-emergency vehicles.</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RF communication range is limited and may be affected by obstacles or interference.</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system is suitable mainly for </a:t>
            </a:r>
            <a:r>
              <a:rPr lang="en-US" sz="3200" b="1" dirty="0">
                <a:latin typeface="Times New Roman" panose="02020603050405020304" pitchFamily="18" charset="0"/>
                <a:cs typeface="Times New Roman" panose="02020603050405020304" pitchFamily="18" charset="0"/>
              </a:rPr>
              <a:t>small-scale or controlled junctions</a:t>
            </a:r>
            <a:r>
              <a:rPr lang="en-US"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Sensor accuracy depends on proper placement and calibration.</a:t>
            </a:r>
            <a:endParaRPr lang="en-US" sz="32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Multiple emergency vehicles arriving simultaneously cannot be handled efficiently.</a:t>
            </a:r>
            <a:endParaRPr lang="en-US" sz="3200" dirty="0">
              <a:latin typeface="Times New Roman" panose="02020603050405020304" pitchFamily="18" charset="0"/>
              <a:cs typeface="Times New Roman" panose="02020603050405020304" pitchFamily="18" charset="0"/>
            </a:endParaRPr>
          </a:p>
        </p:txBody>
      </p:sp>
      <p:pic>
        <p:nvPicPr>
          <p:cNvPr id="7170" name="Picture 2" descr="UMich-designed traffic light system reduces Oakland County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00" y="1559297"/>
            <a:ext cx="3962400" cy="45774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274955">
              <a:lnSpc>
                <a:spcPct val="100000"/>
              </a:lnSpc>
              <a:spcBef>
                <a:spcPts val="100"/>
              </a:spcBef>
            </a:pPr>
            <a:r>
              <a:rPr spc="-10" dirty="0"/>
              <a:t>CONCLUSION</a:t>
            </a:r>
            <a:r>
              <a:rPr spc="-114" dirty="0"/>
              <a:t> </a:t>
            </a:r>
            <a:r>
              <a:rPr dirty="0"/>
              <a:t>&amp;</a:t>
            </a:r>
            <a:r>
              <a:rPr spc="-105" dirty="0"/>
              <a:t> </a:t>
            </a:r>
            <a:r>
              <a:rPr dirty="0"/>
              <a:t>FUTURE</a:t>
            </a:r>
            <a:r>
              <a:rPr spc="-110" dirty="0"/>
              <a:t> </a:t>
            </a:r>
            <a:r>
              <a:rPr spc="-10" dirty="0"/>
              <a:t>SCOPE</a:t>
            </a:r>
            <a:endParaRPr spc="-10" dirty="0"/>
          </a:p>
        </p:txBody>
      </p:sp>
      <p:pic>
        <p:nvPicPr>
          <p:cNvPr id="3" name="object 3"/>
          <p:cNvPicPr/>
          <p:nvPr/>
        </p:nvPicPr>
        <p:blipFill>
          <a:blip r:embed="rId1" cstate="print"/>
          <a:stretch>
            <a:fillRect/>
          </a:stretch>
        </p:blipFill>
        <p:spPr>
          <a:xfrm>
            <a:off x="357352" y="191626"/>
            <a:ext cx="1135116" cy="1342883"/>
          </a:xfrm>
          <a:prstGeom prst="rect">
            <a:avLst/>
          </a:prstGeom>
        </p:spPr>
      </p:pic>
      <p:pic>
        <p:nvPicPr>
          <p:cNvPr id="4" name="object 4"/>
          <p:cNvPicPr/>
          <p:nvPr/>
        </p:nvPicPr>
        <p:blipFill>
          <a:blip r:embed="rId2" cstate="print"/>
          <a:stretch>
            <a:fillRect/>
          </a:stretch>
        </p:blipFill>
        <p:spPr>
          <a:xfrm>
            <a:off x="10514231" y="191626"/>
            <a:ext cx="1520113" cy="1342883"/>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6" name="TextBox 5"/>
          <p:cNvSpPr txBox="1"/>
          <p:nvPr/>
        </p:nvSpPr>
        <p:spPr>
          <a:xfrm>
            <a:off x="357352" y="1534509"/>
            <a:ext cx="7719848" cy="590931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CONCLUSION </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system successfully provides priority to emergency vehicles at a four-way traffic junction.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of Arduino, sound sensors, RF communication, LEDs, and LCD ensured reliable operation.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Emergency vehicle detection and direction identification were achieved accurately.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Traffic signals were automatically controlled without human intervention.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reduced emergency vehicle waiting time and improved road safety.</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design is cost-effective and suitable for small-scale real-time applications.</a:t>
            </a:r>
            <a:endParaRPr lang="en-US" dirty="0">
              <a:latin typeface="Times New Roman" panose="02020603050405020304" pitchFamily="18" charset="0"/>
              <a:cs typeface="Times New Roman" panose="02020603050405020304" pitchFamily="18" charset="0"/>
            </a:endParaRPr>
          </a:p>
          <a:p>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FUTURE SCOPE </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Integration of </a:t>
            </a:r>
            <a:r>
              <a:rPr lang="en-US" b="1" dirty="0">
                <a:latin typeface="Times New Roman" panose="02020603050405020304" pitchFamily="18" charset="0"/>
                <a:cs typeface="Times New Roman" panose="02020603050405020304" pitchFamily="18" charset="0"/>
              </a:rPr>
              <a:t>GPS-based vehicle tracking</a:t>
            </a:r>
            <a:r>
              <a:rPr lang="en-US" dirty="0">
                <a:latin typeface="Times New Roman" panose="02020603050405020304" pitchFamily="18" charset="0"/>
                <a:cs typeface="Times New Roman" panose="02020603050405020304" pitchFamily="18" charset="0"/>
              </a:rPr>
              <a:t> for precise emergency detection.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a:t>
            </a:r>
            <a:r>
              <a:rPr lang="en-US" b="1" dirty="0">
                <a:latin typeface="Times New Roman" panose="02020603050405020304" pitchFamily="18" charset="0"/>
                <a:cs typeface="Times New Roman" panose="02020603050405020304" pitchFamily="18" charset="0"/>
              </a:rPr>
              <a:t>AI and image processing</a:t>
            </a:r>
            <a:r>
              <a:rPr lang="en-US" dirty="0">
                <a:latin typeface="Times New Roman" panose="02020603050405020304" pitchFamily="18" charset="0"/>
                <a:cs typeface="Times New Roman" panose="02020603050405020304" pitchFamily="18" charset="0"/>
              </a:rPr>
              <a:t> for visual vehicle recognition.</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IoT and </a:t>
            </a:r>
            <a:r>
              <a:rPr lang="en-US" b="1" dirty="0">
                <a:latin typeface="Times New Roman" panose="02020603050405020304" pitchFamily="18" charset="0"/>
                <a:cs typeface="Times New Roman" panose="02020603050405020304" pitchFamily="18" charset="0"/>
              </a:rPr>
              <a:t>cloud connectivity</a:t>
            </a:r>
            <a:r>
              <a:rPr lang="en-US" dirty="0">
                <a:latin typeface="Times New Roman" panose="02020603050405020304" pitchFamily="18" charset="0"/>
                <a:cs typeface="Times New Roman" panose="02020603050405020304" pitchFamily="18" charset="0"/>
              </a:rPr>
              <a:t> for centralized traffic monitoring.</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Mobile application for traffic authorities and emergency services.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Expansion to </a:t>
            </a:r>
            <a:r>
              <a:rPr lang="en-US" b="1" dirty="0">
                <a:latin typeface="Times New Roman" panose="02020603050405020304" pitchFamily="18" charset="0"/>
                <a:cs typeface="Times New Roman" panose="02020603050405020304" pitchFamily="18" charset="0"/>
              </a:rPr>
              <a:t>city-wide smart traffic management systems</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Solar power integration for energy efficiency.</a:t>
            </a:r>
            <a:endParaRPr lang="en-US" dirty="0">
              <a:latin typeface="Times New Roman" panose="02020603050405020304" pitchFamily="18" charset="0"/>
              <a:cs typeface="Times New Roman" panose="02020603050405020304" pitchFamily="18" charset="0"/>
            </a:endParaRPr>
          </a:p>
          <a:p>
            <a:br>
              <a:rPr lang="en-US" dirty="0"/>
            </a:br>
            <a:endParaRPr lang="en-IN" dirty="0"/>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200" y="1897026"/>
            <a:ext cx="3957144" cy="45799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17655" rIns="0" bIns="0" rtlCol="0">
            <a:spAutoFit/>
          </a:bodyPr>
          <a:lstStyle/>
          <a:p>
            <a:pPr marL="2331085">
              <a:lnSpc>
                <a:spcPct val="100000"/>
              </a:lnSpc>
              <a:spcBef>
                <a:spcPts val="100"/>
              </a:spcBef>
            </a:pPr>
            <a:r>
              <a:rPr spc="-10" dirty="0"/>
              <a:t>REFERENCES</a:t>
            </a:r>
            <a:endParaRPr spc="-10" dirty="0"/>
          </a:p>
        </p:txBody>
      </p:sp>
      <p:sp>
        <p:nvSpPr>
          <p:cNvPr id="3" name="object 3"/>
          <p:cNvSpPr txBox="1"/>
          <p:nvPr/>
        </p:nvSpPr>
        <p:spPr>
          <a:xfrm>
            <a:off x="1253959" y="1482387"/>
            <a:ext cx="122555" cy="276860"/>
          </a:xfrm>
          <a:prstGeom prst="rect">
            <a:avLst/>
          </a:prstGeom>
        </p:spPr>
        <p:txBody>
          <a:bodyPr vert="horz" wrap="square" lIns="0" tIns="13970" rIns="0" bIns="0" rtlCol="0">
            <a:spAutoFit/>
          </a:bodyPr>
          <a:lstStyle/>
          <a:p>
            <a:pPr>
              <a:lnSpc>
                <a:spcPct val="100000"/>
              </a:lnSpc>
              <a:spcBef>
                <a:spcPts val="110"/>
              </a:spcBef>
            </a:pPr>
            <a:r>
              <a:rPr sz="1600" spc="-370" dirty="0">
                <a:latin typeface="Lucida Sans Unicode" panose="020B0602030504020204"/>
                <a:cs typeface="Lucida Sans Unicode" panose="020B0602030504020204"/>
              </a:rPr>
              <a:t>□</a:t>
            </a:r>
            <a:endParaRPr sz="1600">
              <a:latin typeface="Lucida Sans Unicode" panose="020B0602030504020204"/>
              <a:cs typeface="Lucida Sans Unicode" panose="020B0602030504020204"/>
            </a:endParaRPr>
          </a:p>
        </p:txBody>
      </p:sp>
      <p:pic>
        <p:nvPicPr>
          <p:cNvPr id="4" name="object 4"/>
          <p:cNvPicPr/>
          <p:nvPr/>
        </p:nvPicPr>
        <p:blipFill>
          <a:blip r:embed="rId1" cstate="print"/>
          <a:stretch>
            <a:fillRect/>
          </a:stretch>
        </p:blipFill>
        <p:spPr>
          <a:xfrm>
            <a:off x="571588" y="404244"/>
            <a:ext cx="1135116" cy="1342883"/>
          </a:xfrm>
          <a:prstGeom prst="rect">
            <a:avLst/>
          </a:prstGeom>
        </p:spPr>
      </p:pic>
      <p:pic>
        <p:nvPicPr>
          <p:cNvPr id="5" name="object 5"/>
          <p:cNvPicPr/>
          <p:nvPr/>
        </p:nvPicPr>
        <p:blipFill>
          <a:blip r:embed="rId2" cstate="print"/>
          <a:stretch>
            <a:fillRect/>
          </a:stretch>
        </p:blipFill>
        <p:spPr>
          <a:xfrm>
            <a:off x="10100297" y="408442"/>
            <a:ext cx="1520113" cy="1342883"/>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
        <p:nvSpPr>
          <p:cNvPr id="8" name="TextBox 7"/>
          <p:cNvSpPr txBox="1"/>
          <p:nvPr/>
        </p:nvSpPr>
        <p:spPr>
          <a:xfrm>
            <a:off x="571588" y="1930445"/>
            <a:ext cx="11315612" cy="4524315"/>
          </a:xfrm>
          <a:prstGeom prst="rect">
            <a:avLst/>
          </a:prstGeom>
          <a:noFill/>
        </p:spPr>
        <p:txBody>
          <a:bodyPr wrap="square">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Siddiqi et al. (2025)</a:t>
            </a:r>
            <a:r>
              <a:rPr lang="en-IN" sz="2400" dirty="0">
                <a:latin typeface="Times New Roman" panose="02020603050405020304" pitchFamily="18" charset="0"/>
                <a:cs typeface="Times New Roman" panose="02020603050405020304" pitchFamily="18" charset="0"/>
              </a:rPr>
              <a:t> — An intelligent traffic control system integrating RF communication with Arduino for emergency vehicle priority at intersections. </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Traffic Congestion and Emergency Vehicle Responsive Traffic Signal Control (2023)</a:t>
            </a:r>
            <a:r>
              <a:rPr lang="en-IN" sz="2400" dirty="0">
                <a:latin typeface="Times New Roman" panose="02020603050405020304" pitchFamily="18" charset="0"/>
                <a:cs typeface="Times New Roman" panose="02020603050405020304" pitchFamily="18" charset="0"/>
              </a:rPr>
              <a:t> — Adaptive traffic signal system using sound sensors and real-time camera data for emergency vehicle prioritization. </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Integrated AI Model for Traffic Density Management and Emergency Vehicle Prioritization (2025)</a:t>
            </a:r>
            <a:r>
              <a:rPr lang="en-IN" sz="2400" dirty="0">
                <a:latin typeface="Times New Roman" panose="02020603050405020304" pitchFamily="18" charset="0"/>
                <a:cs typeface="Times New Roman" panose="02020603050405020304" pitchFamily="18" charset="0"/>
              </a:rPr>
              <a:t> — Combines computer vision, audio recognition and RFID for emergency vehicle prioritization. </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err="1">
                <a:latin typeface="Times New Roman" panose="02020603050405020304" pitchFamily="18" charset="0"/>
                <a:cs typeface="Times New Roman" panose="02020603050405020304" pitchFamily="18" charset="0"/>
              </a:rPr>
              <a:t>Vacalebri</a:t>
            </a:r>
            <a:r>
              <a:rPr lang="en-IN" sz="2400" b="1" dirty="0">
                <a:latin typeface="Times New Roman" panose="02020603050405020304" pitchFamily="18" charset="0"/>
                <a:cs typeface="Times New Roman" panose="02020603050405020304" pitchFamily="18" charset="0"/>
              </a:rPr>
              <a:t>-Lloret et al. (2025)</a:t>
            </a:r>
            <a:r>
              <a:rPr lang="en-IN" sz="2400" dirty="0">
                <a:latin typeface="Times New Roman" panose="02020603050405020304" pitchFamily="18" charset="0"/>
                <a:cs typeface="Times New Roman" panose="02020603050405020304" pitchFamily="18" charset="0"/>
              </a:rPr>
              <a:t> — AI-powered emergency sound detection and localization for road safety enhancement. </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Intelligent Traffic Signalling Priority System for Ambulance and VIP Vehicles (2025)</a:t>
            </a:r>
            <a:r>
              <a:rPr lang="en-IN" sz="2400" dirty="0">
                <a:latin typeface="Times New Roman" panose="02020603050405020304" pitchFamily="18" charset="0"/>
                <a:cs typeface="Times New Roman" panose="02020603050405020304" pitchFamily="18" charset="0"/>
              </a:rPr>
              <a:t> — RFID and sensor-based priority system for four-way traffic intersections.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10062286" y="393171"/>
            <a:ext cx="1520113" cy="1342883"/>
          </a:xfrm>
          <a:prstGeom prst="rect">
            <a:avLst/>
          </a:prstGeom>
        </p:spPr>
      </p:pic>
      <p:pic>
        <p:nvPicPr>
          <p:cNvPr id="3" name="object 3"/>
          <p:cNvPicPr/>
          <p:nvPr/>
        </p:nvPicPr>
        <p:blipFill>
          <a:blip r:embed="rId2" cstate="print"/>
          <a:stretch>
            <a:fillRect/>
          </a:stretch>
        </p:blipFill>
        <p:spPr>
          <a:xfrm>
            <a:off x="609600" y="501648"/>
            <a:ext cx="1135116" cy="1342883"/>
          </a:xfrm>
          <a:prstGeom prst="rect">
            <a:avLst/>
          </a:prstGeom>
        </p:spPr>
      </p:pic>
      <p:pic>
        <p:nvPicPr>
          <p:cNvPr id="4" name="object 4"/>
          <p:cNvPicPr/>
          <p:nvPr/>
        </p:nvPicPr>
        <p:blipFill>
          <a:blip r:embed="rId3" cstate="print"/>
          <a:stretch>
            <a:fillRect/>
          </a:stretch>
        </p:blipFill>
        <p:spPr>
          <a:xfrm>
            <a:off x="1926102" y="2057874"/>
            <a:ext cx="7858920" cy="3731558"/>
          </a:xfrm>
          <a:prstGeom prst="rect">
            <a:avLst/>
          </a:prstGeom>
        </p:spPr>
      </p:pic>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6884</Words>
  <Application>WPS Presentation</Application>
  <PresentationFormat>Widescreen</PresentationFormat>
  <Paragraphs>276</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Times New Roman</vt:lpstr>
      <vt:lpstr>Calibri</vt:lpstr>
      <vt:lpstr>Times New Roman</vt:lpstr>
      <vt:lpstr>Lucida Sans Unicode</vt:lpstr>
      <vt:lpstr>Microsoft YaHei</vt:lpstr>
      <vt:lpstr>Arial Unicode MS</vt:lpstr>
      <vt:lpstr>Office Theme</vt:lpstr>
      <vt:lpstr>SIMATS ENGINEERING</vt:lpstr>
      <vt:lpstr>ABSTRACT</vt:lpstr>
      <vt:lpstr>OBJECTIVES</vt:lpstr>
      <vt:lpstr>PROBLEM STATEMENT</vt:lpstr>
      <vt:lpstr>INTRODUCTION</vt:lpstr>
      <vt:lpstr>METHODOLOGY</vt:lpstr>
      <vt:lpstr>SYSTEM DESIGN/ BLOCK DIAGRAM &amp; CIRCUIT DIAGRAM</vt:lpstr>
      <vt:lpstr>HARDWARE USED &amp; COST ANALYSIS</vt:lpstr>
      <vt:lpstr>PowerPoint 演示文稿</vt:lpstr>
      <vt:lpstr>PowerPoint 演示文稿</vt:lpstr>
      <vt:lpstr>PowerPoint 演示文稿</vt:lpstr>
      <vt:lpstr>PowerPoint 演示文稿</vt:lpstr>
      <vt:lpstr>PowerPoint 演示文稿</vt:lpstr>
      <vt:lpstr>RESULTS &amp; DISCUSSION</vt:lpstr>
      <vt:lpstr>CHALLENGES &amp; LIMITATIONS</vt:lpstr>
      <vt:lpstr>CONCLUSION &amp; FUTURE SCOPE</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EEA0117 - Capstone Project PPT template.pptx</dc:title>
  <dc:creator>P Manoj</dc:creator>
  <cp:lastModifiedBy>Indian Desi gamer</cp:lastModifiedBy>
  <cp:revision>3</cp:revision>
  <dcterms:created xsi:type="dcterms:W3CDTF">2026-01-09T07:39:00Z</dcterms:created>
  <dcterms:modified xsi:type="dcterms:W3CDTF">2026-01-30T01:18:15Z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2026-01-09T05:30:00Z</vt:filetime>
  </property>
  <property fmtid="{D5CDD505-2E9C-101B-9397-08002B2CF9AE}" pid="3" name="Creator">
    <vt:lpwstr>Google</vt:lpwstr>
  </property>
  <property fmtid="{D5CDD505-2E9C-101B-9397-08002B2CF9AE}" pid="4" name="LastSaved">
    <vt:filetime>2026-01-09T05:30:00Z</vt:filetime>
  </property>
  <property fmtid="{D5CDD505-2E9C-101B-9397-08002B2CF9AE}" pid="5" name="ICV">
    <vt:lpwstr>1DA743C2DB5440159A683E77DA2141F8_13</vt:lpwstr>
  </property>
  <property fmtid="{D5CDD505-2E9C-101B-9397-08002B2CF9AE}" pid="6" name="KSOProductBuildVer">
    <vt:lpwstr>1033-12.2.0.23196</vt:lpwstr>
  </property>
</Properties>
</file>